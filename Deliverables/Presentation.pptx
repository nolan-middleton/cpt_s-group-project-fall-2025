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6" r:id="rId9"/>
    <p:sldId id="267" r:id="rId10"/>
    <p:sldId id="263" r:id="rId11"/>
    <p:sldId id="264" r:id="rId12"/>
    <p:sldId id="265" r:id="rId13"/>
    <p:sldId id="268" r:id="rId14"/>
    <p:sldId id="269" r:id="rId15"/>
    <p:sldId id="270" r:id="rId16"/>
    <p:sldId id="272" r:id="rId17"/>
    <p:sldId id="271"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9A9CD"/>
    <a:srgbClr val="CDB069"/>
    <a:srgbClr val="7569CD"/>
    <a:srgbClr val="88CD69"/>
    <a:srgbClr val="255D09"/>
    <a:srgbClr val="B8695C"/>
    <a:srgbClr val="F68F7E"/>
    <a:srgbClr val="F67E7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7" d="100"/>
          <a:sy n="57" d="100"/>
        </p:scale>
        <p:origin x="948"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2742" y="33091"/>
            <a:ext cx="12047476" cy="5218760"/>
          </a:xfrm>
        </p:spPr>
        <p:txBody>
          <a:bodyPr anchor="b">
            <a:normAutofit/>
          </a:bodyPr>
          <a:lstStyle>
            <a:lvl1pPr algn="ctr">
              <a:lnSpc>
                <a:spcPct val="85000"/>
              </a:lnSpc>
              <a:defRPr sz="72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02742" y="5407586"/>
            <a:ext cx="12053018" cy="867744"/>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C420FAA-F300-4C95-8FA4-5164ED66F0BC}"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1A210A-2CB9-4235-86BC-8EC2E81F3851}" type="slidenum">
              <a:rPr lang="en-US" smtClean="0"/>
              <a:t>‹#›</a:t>
            </a:fld>
            <a:endParaRPr lang="en-US"/>
          </a:p>
        </p:txBody>
      </p:sp>
      <p:cxnSp>
        <p:nvCxnSpPr>
          <p:cNvPr id="9" name="Straight Connector 8"/>
          <p:cNvCxnSpPr/>
          <p:nvPr/>
        </p:nvCxnSpPr>
        <p:spPr>
          <a:xfrm>
            <a:off x="1207658" y="5329718"/>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34596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420FAA-F300-4C95-8FA4-5164ED66F0BC}"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1A210A-2CB9-4235-86BC-8EC2E81F3851}" type="slidenum">
              <a:rPr lang="en-US" smtClean="0"/>
              <a:t>‹#›</a:t>
            </a:fld>
            <a:endParaRPr lang="en-US"/>
          </a:p>
        </p:txBody>
      </p:sp>
    </p:spTree>
    <p:extLst>
      <p:ext uri="{BB962C8B-B14F-4D97-AF65-F5344CB8AC3E}">
        <p14:creationId xmlns:p14="http://schemas.microsoft.com/office/powerpoint/2010/main" val="3470961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420FAA-F300-4C95-8FA4-5164ED66F0BC}"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1A210A-2CB9-4235-86BC-8EC2E81F385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6780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84935" y="1845734"/>
            <a:ext cx="5850105" cy="402335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17920" y="1845735"/>
            <a:ext cx="5850104"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C420FAA-F300-4C95-8FA4-5164ED66F0BC}"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1A210A-2CB9-4235-86BC-8EC2E81F3851}" type="slidenum">
              <a:rPr lang="en-US" smtClean="0"/>
              <a:t>‹#›</a:t>
            </a:fld>
            <a:endParaRPr lang="en-US"/>
          </a:p>
        </p:txBody>
      </p:sp>
      <p:sp>
        <p:nvSpPr>
          <p:cNvPr id="2" name="Title Placeholder 1">
            <a:extLst>
              <a:ext uri="{FF2B5EF4-FFF2-40B4-BE49-F238E27FC236}">
                <a16:creationId xmlns:a16="http://schemas.microsoft.com/office/drawing/2014/main" id="{D48CBBFE-99AF-0137-2D52-109B173D950C}"/>
              </a:ext>
            </a:extLst>
          </p:cNvPr>
          <p:cNvSpPr>
            <a:spLocks noGrp="1"/>
          </p:cNvSpPr>
          <p:nvPr>
            <p:ph type="title"/>
          </p:nvPr>
        </p:nvSpPr>
        <p:spPr>
          <a:xfrm>
            <a:off x="184935" y="286603"/>
            <a:ext cx="11883090" cy="1450757"/>
          </a:xfrm>
          <a:prstGeom prst="rect">
            <a:avLst/>
          </a:prstGeom>
        </p:spPr>
        <p:txBody>
          <a:bodyPr vert="horz" lIns="91440" tIns="45720" rIns="91440" bIns="45720" rtlCol="0" anchor="b">
            <a:normAutofit/>
          </a:bodyPr>
          <a:lstStyle/>
          <a:p>
            <a:r>
              <a:rPr lang="en-US"/>
              <a:t>Click to edit Master title style</a:t>
            </a:r>
            <a:endParaRPr lang="en-US" dirty="0"/>
          </a:p>
        </p:txBody>
      </p:sp>
    </p:spTree>
    <p:extLst>
      <p:ext uri="{BB962C8B-B14F-4D97-AF65-F5344CB8AC3E}">
        <p14:creationId xmlns:p14="http://schemas.microsoft.com/office/powerpoint/2010/main" val="3186062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84935" y="1846052"/>
            <a:ext cx="5850105" cy="736282"/>
          </a:xfrm>
        </p:spPr>
        <p:txBody>
          <a:bodyPr lIns="91440" rIns="91440" anchor="ctr">
            <a:noAutofit/>
          </a:bodyPr>
          <a:lstStyle>
            <a:lvl1pPr marL="0" indent="0">
              <a:buNone/>
              <a:defRPr sz="32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84935" y="2582335"/>
            <a:ext cx="5850105" cy="32867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217919" y="1846052"/>
            <a:ext cx="5850105" cy="736282"/>
          </a:xfrm>
        </p:spPr>
        <p:txBody>
          <a:bodyPr lIns="91440" rIns="91440" anchor="ctr">
            <a:noAutofit/>
          </a:bodyPr>
          <a:lstStyle>
            <a:lvl1pPr marL="0" indent="0">
              <a:buNone/>
              <a:defRPr sz="32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17920" y="2582334"/>
            <a:ext cx="5850104"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C420FAA-F300-4C95-8FA4-5164ED66F0BC}" type="datetimeFigureOut">
              <a:rPr lang="en-US" smtClean="0"/>
              <a:t>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51A210A-2CB9-4235-86BC-8EC2E81F3851}" type="slidenum">
              <a:rPr lang="en-US" smtClean="0"/>
              <a:t>‹#›</a:t>
            </a:fld>
            <a:endParaRPr lang="en-US"/>
          </a:p>
        </p:txBody>
      </p:sp>
      <p:sp>
        <p:nvSpPr>
          <p:cNvPr id="2" name="Title Placeholder 1">
            <a:extLst>
              <a:ext uri="{FF2B5EF4-FFF2-40B4-BE49-F238E27FC236}">
                <a16:creationId xmlns:a16="http://schemas.microsoft.com/office/drawing/2014/main" id="{A88843C5-495F-62CB-D6AF-6B8A19001DA4}"/>
              </a:ext>
            </a:extLst>
          </p:cNvPr>
          <p:cNvSpPr>
            <a:spLocks noGrp="1"/>
          </p:cNvSpPr>
          <p:nvPr>
            <p:ph type="title"/>
          </p:nvPr>
        </p:nvSpPr>
        <p:spPr>
          <a:xfrm>
            <a:off x="184935" y="286603"/>
            <a:ext cx="11883090" cy="1450757"/>
          </a:xfrm>
          <a:prstGeom prst="rect">
            <a:avLst/>
          </a:prstGeom>
        </p:spPr>
        <p:txBody>
          <a:bodyPr vert="horz" lIns="91440" tIns="45720" rIns="91440" bIns="45720" rtlCol="0" anchor="b">
            <a:normAutofit/>
          </a:bodyPr>
          <a:lstStyle/>
          <a:p>
            <a:r>
              <a:rPr lang="en-US"/>
              <a:t>Click to edit Master title style</a:t>
            </a:r>
            <a:endParaRPr lang="en-US" dirty="0"/>
          </a:p>
        </p:txBody>
      </p:sp>
    </p:spTree>
    <p:extLst>
      <p:ext uri="{BB962C8B-B14F-4D97-AF65-F5344CB8AC3E}">
        <p14:creationId xmlns:p14="http://schemas.microsoft.com/office/powerpoint/2010/main" val="2849783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C420FAA-F300-4C95-8FA4-5164ED66F0BC}" type="datetimeFigureOut">
              <a:rPr lang="en-US" smtClean="0"/>
              <a:t>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1A210A-2CB9-4235-86BC-8EC2E81F3851}" type="slidenum">
              <a:rPr lang="en-US" smtClean="0"/>
              <a:t>‹#›</a:t>
            </a:fld>
            <a:endParaRPr lang="en-US"/>
          </a:p>
        </p:txBody>
      </p:sp>
    </p:spTree>
    <p:extLst>
      <p:ext uri="{BB962C8B-B14F-4D97-AF65-F5344CB8AC3E}">
        <p14:creationId xmlns:p14="http://schemas.microsoft.com/office/powerpoint/2010/main" val="284183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2C420FAA-F300-4C95-8FA4-5164ED66F0BC}" type="datetimeFigureOut">
              <a:rPr lang="en-US" smtClean="0"/>
              <a:t>12/4/2025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951A210A-2CB9-4235-86BC-8EC2E81F3851}" type="slidenum">
              <a:rPr lang="en-US" smtClean="0"/>
              <a:t>‹#›</a:t>
            </a:fld>
            <a:endParaRPr lang="en-US"/>
          </a:p>
        </p:txBody>
      </p:sp>
    </p:spTree>
    <p:extLst>
      <p:ext uri="{BB962C8B-B14F-4D97-AF65-F5344CB8AC3E}">
        <p14:creationId xmlns:p14="http://schemas.microsoft.com/office/powerpoint/2010/main" val="2199259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C420FAA-F300-4C95-8FA4-5164ED66F0BC}" type="datetimeFigureOut">
              <a:rPr lang="en-US" smtClean="0"/>
              <a:t>12/4/2025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51A210A-2CB9-4235-86BC-8EC2E81F3851}" type="slidenum">
              <a:rPr lang="en-US" smtClean="0"/>
              <a:t>‹#›</a:t>
            </a:fld>
            <a:endParaRPr lang="en-US"/>
          </a:p>
        </p:txBody>
      </p:sp>
    </p:spTree>
    <p:extLst>
      <p:ext uri="{BB962C8B-B14F-4D97-AF65-F5344CB8AC3E}">
        <p14:creationId xmlns:p14="http://schemas.microsoft.com/office/powerpoint/2010/main" val="4018544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C420FAA-F300-4C95-8FA4-5164ED66F0BC}"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1A210A-2CB9-4235-86BC-8EC2E81F3851}" type="slidenum">
              <a:rPr lang="en-US" smtClean="0"/>
              <a:t>‹#›</a:t>
            </a:fld>
            <a:endParaRPr lang="en-US"/>
          </a:p>
        </p:txBody>
      </p:sp>
    </p:spTree>
    <p:extLst>
      <p:ext uri="{BB962C8B-B14F-4D97-AF65-F5344CB8AC3E}">
        <p14:creationId xmlns:p14="http://schemas.microsoft.com/office/powerpoint/2010/main" val="1230922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420FAA-F300-4C95-8FA4-5164ED66F0BC}"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1A210A-2CB9-4235-86BC-8EC2E81F3851}" type="slidenum">
              <a:rPr lang="en-US" smtClean="0"/>
              <a:t>‹#›</a:t>
            </a:fld>
            <a:endParaRPr lang="en-US"/>
          </a:p>
        </p:txBody>
      </p:sp>
    </p:spTree>
    <p:extLst>
      <p:ext uri="{BB962C8B-B14F-4D97-AF65-F5344CB8AC3E}">
        <p14:creationId xmlns:p14="http://schemas.microsoft.com/office/powerpoint/2010/main" val="4206026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420FAA-F300-4C95-8FA4-5164ED66F0BC}"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1A210A-2CB9-4235-86BC-8EC2E81F3851}" type="slidenum">
              <a:rPr lang="en-US" smtClean="0"/>
              <a:t>‹#›</a:t>
            </a:fld>
            <a:endParaRPr lang="en-US"/>
          </a:p>
        </p:txBody>
      </p:sp>
    </p:spTree>
    <p:extLst>
      <p:ext uri="{BB962C8B-B14F-4D97-AF65-F5344CB8AC3E}">
        <p14:creationId xmlns:p14="http://schemas.microsoft.com/office/powerpoint/2010/main" val="3230285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84935" y="286603"/>
            <a:ext cx="1188309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84935" y="1845734"/>
            <a:ext cx="1188309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C420FAA-F300-4C95-8FA4-5164ED66F0BC}" type="datetimeFigureOut">
              <a:rPr lang="en-US" smtClean="0"/>
              <a:t>12/4/2025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51A210A-2CB9-4235-86BC-8EC2E81F3851}" type="slidenum">
              <a:rPr lang="en-US" smtClean="0"/>
              <a:t>‹#›</a:t>
            </a:fld>
            <a:endParaRPr lang="en-US"/>
          </a:p>
        </p:txBody>
      </p:sp>
      <p:cxnSp>
        <p:nvCxnSpPr>
          <p:cNvPr id="10" name="Straight Connector 9"/>
          <p:cNvCxnSpPr>
            <a:cxnSpLocks/>
          </p:cNvCxnSpPr>
          <p:nvPr/>
        </p:nvCxnSpPr>
        <p:spPr>
          <a:xfrm>
            <a:off x="184935" y="1737845"/>
            <a:ext cx="1097555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45569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66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36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32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ncbi.nlm.nih.gov/sites/GDSbrowser" TargetMode="Externa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nolan-middleton/CPT_S-Group-Project-Fall-2025"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19FC7-128B-F513-EF6C-195FA9A3825A}"/>
              </a:ext>
            </a:extLst>
          </p:cNvPr>
          <p:cNvSpPr>
            <a:spLocks noGrp="1"/>
          </p:cNvSpPr>
          <p:nvPr>
            <p:ph type="ctrTitle"/>
          </p:nvPr>
        </p:nvSpPr>
        <p:spPr/>
        <p:txBody>
          <a:bodyPr/>
          <a:lstStyle/>
          <a:p>
            <a:r>
              <a:rPr lang="en-US" dirty="0"/>
              <a:t>Survey of Dimensionality Reduction Techniques and their Applications for Classifying Disease State in Human RNA-seq Data</a:t>
            </a:r>
          </a:p>
        </p:txBody>
      </p:sp>
      <p:sp>
        <p:nvSpPr>
          <p:cNvPr id="3" name="Subtitle 2">
            <a:extLst>
              <a:ext uri="{FF2B5EF4-FFF2-40B4-BE49-F238E27FC236}">
                <a16:creationId xmlns:a16="http://schemas.microsoft.com/office/drawing/2014/main" id="{498D2A71-7FB4-5A41-7EEC-D3AA2617CA99}"/>
              </a:ext>
            </a:extLst>
          </p:cNvPr>
          <p:cNvSpPr>
            <a:spLocks noGrp="1"/>
          </p:cNvSpPr>
          <p:nvPr>
            <p:ph type="subTitle" idx="1"/>
          </p:nvPr>
        </p:nvSpPr>
        <p:spPr/>
        <p:txBody>
          <a:bodyPr>
            <a:noAutofit/>
          </a:bodyPr>
          <a:lstStyle/>
          <a:p>
            <a:pPr algn="ctr"/>
            <a:r>
              <a:rPr lang="en-US" dirty="0"/>
              <a:t>Nels Blair, Roya Campos, Nolan Middleton, Paul Ola, </a:t>
            </a:r>
            <a:r>
              <a:rPr lang="en-US" dirty="0" err="1"/>
              <a:t>Jehanzeb</a:t>
            </a:r>
            <a:r>
              <a:rPr lang="en-US" dirty="0"/>
              <a:t> Saleem</a:t>
            </a:r>
          </a:p>
          <a:p>
            <a:pPr algn="ctr"/>
            <a:r>
              <a:rPr lang="en-US" dirty="0"/>
              <a:t>Washington State University, Pullman, WA 99164</a:t>
            </a:r>
          </a:p>
        </p:txBody>
      </p:sp>
    </p:spTree>
    <p:extLst>
      <p:ext uri="{BB962C8B-B14F-4D97-AF65-F5344CB8AC3E}">
        <p14:creationId xmlns:p14="http://schemas.microsoft.com/office/powerpoint/2010/main" val="2834982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789D3-801B-E167-EE20-750AAEE65C0B}"/>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CDE6E590-4CAD-E544-F57E-194BDDAABD86}"/>
              </a:ext>
            </a:extLst>
          </p:cNvPr>
          <p:cNvSpPr>
            <a:spLocks noGrp="1"/>
          </p:cNvSpPr>
          <p:nvPr>
            <p:ph idx="1"/>
          </p:nvPr>
        </p:nvSpPr>
        <p:spPr/>
        <p:txBody>
          <a:bodyPr>
            <a:noAutofit/>
          </a:bodyPr>
          <a:lstStyle/>
          <a:p>
            <a:r>
              <a:rPr lang="en-US" dirty="0"/>
              <a:t>Machine learning can answer biological questions</a:t>
            </a:r>
          </a:p>
          <a:p>
            <a:pPr lvl="1"/>
            <a:r>
              <a:rPr lang="en-US" dirty="0"/>
              <a:t>TEC-</a:t>
            </a:r>
            <a:r>
              <a:rPr lang="en-US" dirty="0" err="1"/>
              <a:t>LncMir</a:t>
            </a:r>
            <a:r>
              <a:rPr lang="en-US" dirty="0"/>
              <a:t>: identifies RNA-RNA interactions [1]</a:t>
            </a:r>
          </a:p>
          <a:p>
            <a:pPr lvl="1"/>
            <a:r>
              <a:rPr lang="en-US" dirty="0"/>
              <a:t>Random Forest: can identify TFBS with UV damage [2]</a:t>
            </a:r>
          </a:p>
          <a:p>
            <a:pPr lvl="1"/>
            <a:r>
              <a:rPr lang="en-US" dirty="0"/>
              <a:t>AlphaFold: predicts protein structure [3]</a:t>
            </a:r>
          </a:p>
          <a:p>
            <a:r>
              <a:rPr lang="en-US" dirty="0"/>
              <a:t>We’re interested in gene expression data</a:t>
            </a:r>
          </a:p>
          <a:p>
            <a:pPr lvl="1"/>
            <a:r>
              <a:rPr lang="en-US" dirty="0"/>
              <a:t>Informs how the cell is behaving</a:t>
            </a:r>
          </a:p>
          <a:p>
            <a:pPr lvl="1"/>
            <a:r>
              <a:rPr lang="en-US" dirty="0"/>
              <a:t>Captures disease state, cell type, etc.</a:t>
            </a:r>
          </a:p>
          <a:p>
            <a:pPr lvl="1"/>
            <a:r>
              <a:rPr lang="en-US" dirty="0"/>
              <a:t>Many diseases (cancers) result from aberrant gene expression</a:t>
            </a:r>
          </a:p>
        </p:txBody>
      </p:sp>
    </p:spTree>
    <p:extLst>
      <p:ext uri="{BB962C8B-B14F-4D97-AF65-F5344CB8AC3E}">
        <p14:creationId xmlns:p14="http://schemas.microsoft.com/office/powerpoint/2010/main" val="20051342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Arrow Connector 8">
            <a:extLst>
              <a:ext uri="{FF2B5EF4-FFF2-40B4-BE49-F238E27FC236}">
                <a16:creationId xmlns:a16="http://schemas.microsoft.com/office/drawing/2014/main" id="{2167A7D6-6227-7E2F-832C-39AEFEB264AB}"/>
              </a:ext>
            </a:extLst>
          </p:cNvPr>
          <p:cNvCxnSpPr>
            <a:cxnSpLocks/>
            <a:stCxn id="12" idx="3"/>
          </p:cNvCxnSpPr>
          <p:nvPr/>
        </p:nvCxnSpPr>
        <p:spPr>
          <a:xfrm>
            <a:off x="5772306" y="1085850"/>
            <a:ext cx="0" cy="542345"/>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pic>
        <p:nvPicPr>
          <p:cNvPr id="12" name="Graphic 11">
            <a:extLst>
              <a:ext uri="{FF2B5EF4-FFF2-40B4-BE49-F238E27FC236}">
                <a16:creationId xmlns:a16="http://schemas.microsoft.com/office/drawing/2014/main" id="{908B1011-8C83-0FB8-8E25-E919CEA3CB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a:off x="5229381" y="-742950"/>
            <a:ext cx="1085850" cy="2571750"/>
          </a:xfrm>
          <a:prstGeom prst="rect">
            <a:avLst/>
          </a:prstGeom>
        </p:spPr>
      </p:pic>
      <p:grpSp>
        <p:nvGrpSpPr>
          <p:cNvPr id="98" name="Group 97">
            <a:extLst>
              <a:ext uri="{FF2B5EF4-FFF2-40B4-BE49-F238E27FC236}">
                <a16:creationId xmlns:a16="http://schemas.microsoft.com/office/drawing/2014/main" id="{18526E39-86C1-CFD5-D552-8471EF1906A4}"/>
              </a:ext>
            </a:extLst>
          </p:cNvPr>
          <p:cNvGrpSpPr/>
          <p:nvPr/>
        </p:nvGrpSpPr>
        <p:grpSpPr>
          <a:xfrm>
            <a:off x="5188573" y="1676820"/>
            <a:ext cx="1167465" cy="848931"/>
            <a:chOff x="6385047" y="3558748"/>
            <a:chExt cx="1167465" cy="848931"/>
          </a:xfrm>
        </p:grpSpPr>
        <p:grpSp>
          <p:nvGrpSpPr>
            <p:cNvPr id="70" name="Graphic 14">
              <a:extLst>
                <a:ext uri="{FF2B5EF4-FFF2-40B4-BE49-F238E27FC236}">
                  <a16:creationId xmlns:a16="http://schemas.microsoft.com/office/drawing/2014/main" id="{A3A89C38-FBCE-4CF5-FD60-E21B3909DE90}"/>
                </a:ext>
              </a:extLst>
            </p:cNvPr>
            <p:cNvGrpSpPr/>
            <p:nvPr/>
          </p:nvGrpSpPr>
          <p:grpSpPr>
            <a:xfrm rot="5400000">
              <a:off x="6544314" y="3399481"/>
              <a:ext cx="848931" cy="1167465"/>
              <a:chOff x="6589593" y="3425356"/>
              <a:chExt cx="848931" cy="1167465"/>
            </a:xfrm>
          </p:grpSpPr>
          <p:sp>
            <p:nvSpPr>
              <p:cNvPr id="71" name="Freeform: Shape 70">
                <a:extLst>
                  <a:ext uri="{FF2B5EF4-FFF2-40B4-BE49-F238E27FC236}">
                    <a16:creationId xmlns:a16="http://schemas.microsoft.com/office/drawing/2014/main" id="{99DE4C15-ACC3-9CC2-3E8F-F65A5506AF55}"/>
                  </a:ext>
                </a:extLst>
              </p:cNvPr>
              <p:cNvSpPr/>
              <p:nvPr/>
            </p:nvSpPr>
            <p:spPr>
              <a:xfrm>
                <a:off x="6961031" y="3425425"/>
                <a:ext cx="426908" cy="304441"/>
              </a:xfrm>
              <a:custGeom>
                <a:avLst/>
                <a:gdLst>
                  <a:gd name="connsiteX0" fmla="*/ -522 w 426908"/>
                  <a:gd name="connsiteY0" fmla="*/ 61110 h 304441"/>
                  <a:gd name="connsiteX1" fmla="*/ 201935 w 426908"/>
                  <a:gd name="connsiteY1" fmla="*/ 171932 h 304441"/>
                  <a:gd name="connsiteX2" fmla="*/ 376801 w 426908"/>
                  <a:gd name="connsiteY2" fmla="*/ 304117 h 304441"/>
                  <a:gd name="connsiteX3" fmla="*/ 421797 w 426908"/>
                  <a:gd name="connsiteY3" fmla="*/ 246485 h 304441"/>
                  <a:gd name="connsiteX4" fmla="*/ 150906 w 426908"/>
                  <a:gd name="connsiteY4" fmla="*/ -325 h 304441"/>
                  <a:gd name="connsiteX5" fmla="*/ -522 w 426908"/>
                  <a:gd name="connsiteY5" fmla="*/ 61110 h 304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6908" h="304441">
                    <a:moveTo>
                      <a:pt x="-522" y="61110"/>
                    </a:moveTo>
                    <a:cubicBezTo>
                      <a:pt x="-522" y="61110"/>
                      <a:pt x="107874" y="111069"/>
                      <a:pt x="201935" y="171932"/>
                    </a:cubicBezTo>
                    <a:cubicBezTo>
                      <a:pt x="295996" y="232795"/>
                      <a:pt x="375723" y="303557"/>
                      <a:pt x="376801" y="304117"/>
                    </a:cubicBezTo>
                    <a:cubicBezTo>
                      <a:pt x="395619" y="283363"/>
                      <a:pt x="406155" y="270764"/>
                      <a:pt x="421797" y="246485"/>
                    </a:cubicBezTo>
                    <a:cubicBezTo>
                      <a:pt x="468050" y="174693"/>
                      <a:pt x="149421" y="-394"/>
                      <a:pt x="150906" y="-325"/>
                    </a:cubicBezTo>
                    <a:lnTo>
                      <a:pt x="-522" y="61110"/>
                    </a:lnTo>
                    <a:close/>
                  </a:path>
                </a:pathLst>
              </a:custGeom>
              <a:solidFill>
                <a:srgbClr val="B8695C"/>
              </a:solidFill>
              <a:ln w="15770" cap="rnd">
                <a:solidFill>
                  <a:srgbClr val="000000"/>
                </a:solid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05697A3-1A57-926C-1C88-128398E90306}"/>
                  </a:ext>
                </a:extLst>
              </p:cNvPr>
              <p:cNvSpPr/>
              <p:nvPr/>
            </p:nvSpPr>
            <p:spPr>
              <a:xfrm>
                <a:off x="6589593" y="3425356"/>
                <a:ext cx="848931" cy="1167010"/>
              </a:xfrm>
              <a:custGeom>
                <a:avLst/>
                <a:gdLst>
                  <a:gd name="connsiteX0" fmla="*/ 520859 w 848931"/>
                  <a:gd name="connsiteY0" fmla="*/ -321 h 1167010"/>
                  <a:gd name="connsiteX1" fmla="*/ 793235 w 848931"/>
                  <a:gd name="connsiteY1" fmla="*/ 246558 h 1167010"/>
                  <a:gd name="connsiteX2" fmla="*/ 14933 w 848931"/>
                  <a:gd name="connsiteY2" fmla="*/ 763488 h 1167010"/>
                  <a:gd name="connsiteX3" fmla="*/ 20818 w 848931"/>
                  <a:gd name="connsiteY3" fmla="*/ 986283 h 1167010"/>
                  <a:gd name="connsiteX4" fmla="*/ 238914 w 848931"/>
                  <a:gd name="connsiteY4" fmla="*/ 1166690 h 1167010"/>
                  <a:gd name="connsiteX5" fmla="*/ 39324 w 848931"/>
                  <a:gd name="connsiteY5" fmla="*/ 954424 h 1167010"/>
                  <a:gd name="connsiteX6" fmla="*/ 829286 w 848931"/>
                  <a:gd name="connsiteY6" fmla="*/ 394487 h 1167010"/>
                  <a:gd name="connsiteX7" fmla="*/ 834256 w 848931"/>
                  <a:gd name="connsiteY7" fmla="*/ 218009 h 1167010"/>
                  <a:gd name="connsiteX8" fmla="*/ 520859 w 848931"/>
                  <a:gd name="connsiteY8" fmla="*/ -321 h 1167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8931" h="1167010">
                    <a:moveTo>
                      <a:pt x="520859" y="-321"/>
                    </a:moveTo>
                    <a:cubicBezTo>
                      <a:pt x="520859" y="-321"/>
                      <a:pt x="836430" y="172885"/>
                      <a:pt x="793235" y="246558"/>
                    </a:cubicBezTo>
                    <a:cubicBezTo>
                      <a:pt x="666932" y="461977"/>
                      <a:pt x="101680" y="552188"/>
                      <a:pt x="14933" y="763488"/>
                    </a:cubicBezTo>
                    <a:cubicBezTo>
                      <a:pt x="-8528" y="853931"/>
                      <a:pt x="-4256" y="923574"/>
                      <a:pt x="20818" y="986283"/>
                    </a:cubicBezTo>
                    <a:cubicBezTo>
                      <a:pt x="153471" y="1134455"/>
                      <a:pt x="166215" y="1117631"/>
                      <a:pt x="238914" y="1166690"/>
                    </a:cubicBezTo>
                    <a:cubicBezTo>
                      <a:pt x="238914" y="1165165"/>
                      <a:pt x="13850" y="1054275"/>
                      <a:pt x="39324" y="954424"/>
                    </a:cubicBezTo>
                    <a:cubicBezTo>
                      <a:pt x="123065" y="626176"/>
                      <a:pt x="502868" y="707404"/>
                      <a:pt x="829286" y="394487"/>
                    </a:cubicBezTo>
                    <a:cubicBezTo>
                      <a:pt x="851743" y="358773"/>
                      <a:pt x="855711" y="299947"/>
                      <a:pt x="834256" y="218009"/>
                    </a:cubicBezTo>
                    <a:cubicBezTo>
                      <a:pt x="835291" y="174187"/>
                      <a:pt x="628834" y="74314"/>
                      <a:pt x="520859" y="-321"/>
                    </a:cubicBezTo>
                    <a:close/>
                  </a:path>
                </a:pathLst>
              </a:custGeom>
              <a:solidFill>
                <a:srgbClr val="F68F7E"/>
              </a:solidFill>
              <a:ln w="15770" cap="rnd">
                <a:solidFill>
                  <a:srgbClr val="000000"/>
                </a:solid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90D95C68-C9A8-042A-DA52-5D07FCB55F69}"/>
                  </a:ext>
                </a:extLst>
              </p:cNvPr>
              <p:cNvSpPr/>
              <p:nvPr/>
            </p:nvSpPr>
            <p:spPr>
              <a:xfrm>
                <a:off x="7016452" y="3566573"/>
                <a:ext cx="296304" cy="67126"/>
              </a:xfrm>
              <a:custGeom>
                <a:avLst/>
                <a:gdLst>
                  <a:gd name="connsiteX0" fmla="*/ 284318 w 296304"/>
                  <a:gd name="connsiteY0" fmla="*/ 66802 h 67126"/>
                  <a:gd name="connsiteX1" fmla="*/ 285473 w 296304"/>
                  <a:gd name="connsiteY1" fmla="*/ 66802 h 67126"/>
                  <a:gd name="connsiteX2" fmla="*/ 269397 w 296304"/>
                  <a:gd name="connsiteY2" fmla="*/ 11667 h 67126"/>
                  <a:gd name="connsiteX3" fmla="*/ -522 w 296304"/>
                  <a:gd name="connsiteY3" fmla="*/ 1484 h 67126"/>
                  <a:gd name="connsiteX4" fmla="*/ -494 w 296304"/>
                  <a:gd name="connsiteY4" fmla="*/ -325 h 67126"/>
                  <a:gd name="connsiteX5" fmla="*/ 6446 w 296304"/>
                  <a:gd name="connsiteY5" fmla="*/ 54091 h 67126"/>
                  <a:gd name="connsiteX6" fmla="*/ 8001 w 296304"/>
                  <a:gd name="connsiteY6" fmla="*/ 54391 h 67126"/>
                  <a:gd name="connsiteX7" fmla="*/ 284749 w 296304"/>
                  <a:gd name="connsiteY7" fmla="*/ 66359 h 67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6304" h="67126">
                    <a:moveTo>
                      <a:pt x="284318" y="66802"/>
                    </a:moveTo>
                    <a:lnTo>
                      <a:pt x="285473" y="66802"/>
                    </a:lnTo>
                    <a:cubicBezTo>
                      <a:pt x="308970" y="34831"/>
                      <a:pt x="287399" y="23038"/>
                      <a:pt x="269397" y="11667"/>
                    </a:cubicBezTo>
                    <a:lnTo>
                      <a:pt x="-522" y="1484"/>
                    </a:lnTo>
                    <a:cubicBezTo>
                      <a:pt x="19745" y="15472"/>
                      <a:pt x="-494" y="-325"/>
                      <a:pt x="-494" y="-325"/>
                    </a:cubicBezTo>
                    <a:cubicBezTo>
                      <a:pt x="19745" y="16895"/>
                      <a:pt x="31321" y="14145"/>
                      <a:pt x="6446" y="54091"/>
                    </a:cubicBezTo>
                    <a:lnTo>
                      <a:pt x="8001" y="54391"/>
                    </a:lnTo>
                    <a:lnTo>
                      <a:pt x="284749" y="66359"/>
                    </a:lnTo>
                  </a:path>
                </a:pathLst>
              </a:custGeom>
              <a:solidFill>
                <a:srgbClr val="7DF6A7"/>
              </a:solidFill>
              <a:ln w="15770" cap="rnd">
                <a:solidFill>
                  <a:srgbClr val="000000"/>
                </a:solid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2D44DA2D-0365-9A13-2858-0ECEF31BDF85}"/>
                  </a:ext>
                </a:extLst>
              </p:cNvPr>
              <p:cNvSpPr/>
              <p:nvPr/>
            </p:nvSpPr>
            <p:spPr>
              <a:xfrm>
                <a:off x="6941862" y="3445136"/>
                <a:ext cx="161272" cy="59925"/>
              </a:xfrm>
              <a:custGeom>
                <a:avLst/>
                <a:gdLst>
                  <a:gd name="connsiteX0" fmla="*/ 151906 w 161272"/>
                  <a:gd name="connsiteY0" fmla="*/ 59599 h 59925"/>
                  <a:gd name="connsiteX1" fmla="*/ 144590 w 161272"/>
                  <a:gd name="connsiteY1" fmla="*/ 3343 h 59925"/>
                  <a:gd name="connsiteX2" fmla="*/ 142177 w 161272"/>
                  <a:gd name="connsiteY2" fmla="*/ 2555 h 59925"/>
                  <a:gd name="connsiteX3" fmla="*/ 122225 w 161272"/>
                  <a:gd name="connsiteY3" fmla="*/ 49 h 59925"/>
                  <a:gd name="connsiteX4" fmla="*/ 122370 w 161272"/>
                  <a:gd name="connsiteY4" fmla="*/ -326 h 59925"/>
                  <a:gd name="connsiteX5" fmla="*/ -523 w 161272"/>
                  <a:gd name="connsiteY5" fmla="*/ 49985 h 59925"/>
                  <a:gd name="connsiteX6" fmla="*/ -426 w 161272"/>
                  <a:gd name="connsiteY6" fmla="*/ 50561 h 59925"/>
                  <a:gd name="connsiteX7" fmla="*/ 151906 w 161272"/>
                  <a:gd name="connsiteY7" fmla="*/ 59599 h 59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272" h="59925">
                    <a:moveTo>
                      <a:pt x="151906" y="59599"/>
                    </a:moveTo>
                    <a:cubicBezTo>
                      <a:pt x="167054" y="42518"/>
                      <a:pt x="161514" y="16338"/>
                      <a:pt x="144590" y="3343"/>
                    </a:cubicBezTo>
                    <a:cubicBezTo>
                      <a:pt x="144590" y="3343"/>
                      <a:pt x="161514" y="16338"/>
                      <a:pt x="142177" y="2555"/>
                    </a:cubicBezTo>
                    <a:lnTo>
                      <a:pt x="122225" y="49"/>
                    </a:lnTo>
                    <a:lnTo>
                      <a:pt x="122370" y="-326"/>
                    </a:lnTo>
                    <a:lnTo>
                      <a:pt x="-523" y="49985"/>
                    </a:lnTo>
                    <a:lnTo>
                      <a:pt x="-426" y="50561"/>
                    </a:lnTo>
                    <a:lnTo>
                      <a:pt x="151906" y="59599"/>
                    </a:lnTo>
                    <a:close/>
                  </a:path>
                </a:pathLst>
              </a:custGeom>
              <a:solidFill>
                <a:srgbClr val="7D88F6"/>
              </a:solidFill>
              <a:ln w="15770" cap="rnd">
                <a:solidFill>
                  <a:srgbClr val="000000"/>
                </a:solid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621CBD8F-B622-ADFB-A7E2-B12D5BCC037D}"/>
                  </a:ext>
                </a:extLst>
              </p:cNvPr>
              <p:cNvSpPr/>
              <p:nvPr/>
            </p:nvSpPr>
            <p:spPr>
              <a:xfrm>
                <a:off x="6627890" y="4292155"/>
                <a:ext cx="370502" cy="300666"/>
              </a:xfrm>
              <a:custGeom>
                <a:avLst/>
                <a:gdLst>
                  <a:gd name="connsiteX0" fmla="*/ 369349 w 370502"/>
                  <a:gd name="connsiteY0" fmla="*/ 227115 h 300666"/>
                  <a:gd name="connsiteX1" fmla="*/ 183070 w 370502"/>
                  <a:gd name="connsiteY1" fmla="*/ 140430 h 300666"/>
                  <a:gd name="connsiteX2" fmla="*/ 36545 w 370502"/>
                  <a:gd name="connsiteY2" fmla="*/ -316 h 300666"/>
                  <a:gd name="connsiteX3" fmla="*/ 1023 w 370502"/>
                  <a:gd name="connsiteY3" fmla="*/ 87630 h 300666"/>
                  <a:gd name="connsiteX4" fmla="*/ 201003 w 370502"/>
                  <a:gd name="connsiteY4" fmla="*/ 300350 h 300666"/>
                  <a:gd name="connsiteX5" fmla="*/ 369977 w 370502"/>
                  <a:gd name="connsiteY5" fmla="*/ 229124 h 300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502" h="300666">
                    <a:moveTo>
                      <a:pt x="369349" y="227115"/>
                    </a:moveTo>
                    <a:cubicBezTo>
                      <a:pt x="369349" y="227115"/>
                      <a:pt x="267145" y="198231"/>
                      <a:pt x="183070" y="140430"/>
                    </a:cubicBezTo>
                    <a:cubicBezTo>
                      <a:pt x="98995" y="82628"/>
                      <a:pt x="38360" y="1220"/>
                      <a:pt x="36545" y="-316"/>
                    </a:cubicBezTo>
                    <a:cubicBezTo>
                      <a:pt x="33099" y="1526"/>
                      <a:pt x="7648" y="60502"/>
                      <a:pt x="1023" y="87630"/>
                    </a:cubicBezTo>
                    <a:cubicBezTo>
                      <a:pt x="-21076" y="178120"/>
                      <a:pt x="200613" y="298370"/>
                      <a:pt x="201003" y="300350"/>
                    </a:cubicBezTo>
                    <a:lnTo>
                      <a:pt x="369977" y="229124"/>
                    </a:lnTo>
                  </a:path>
                </a:pathLst>
              </a:custGeom>
              <a:solidFill>
                <a:srgbClr val="B8695C"/>
              </a:solidFill>
              <a:ln w="15770" cap="rnd">
                <a:solidFill>
                  <a:srgbClr val="000000"/>
                </a:solid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3F09E04F-60AF-1C1C-BF71-016C5C530A6E}"/>
                  </a:ext>
                </a:extLst>
              </p:cNvPr>
              <p:cNvSpPr/>
              <p:nvPr/>
            </p:nvSpPr>
            <p:spPr>
              <a:xfrm>
                <a:off x="6970311" y="3841591"/>
                <a:ext cx="194613" cy="54734"/>
              </a:xfrm>
              <a:custGeom>
                <a:avLst/>
                <a:gdLst>
                  <a:gd name="connsiteX0" fmla="*/ 194091 w 194613"/>
                  <a:gd name="connsiteY0" fmla="*/ 1496 h 54734"/>
                  <a:gd name="connsiteX1" fmla="*/ 84059 w 194613"/>
                  <a:gd name="connsiteY1" fmla="*/ 54412 h 54734"/>
                  <a:gd name="connsiteX2" fmla="*/ 84595 w 194613"/>
                  <a:gd name="connsiteY2" fmla="*/ 54012 h 54734"/>
                  <a:gd name="connsiteX3" fmla="*/ 14347 w 194613"/>
                  <a:gd name="connsiteY3" fmla="*/ 53613 h 54734"/>
                  <a:gd name="connsiteX4" fmla="*/ 14037 w 194613"/>
                  <a:gd name="connsiteY4" fmla="*/ 53326 h 54734"/>
                  <a:gd name="connsiteX5" fmla="*/ 24342 w 194613"/>
                  <a:gd name="connsiteY5" fmla="*/ -18 h 54734"/>
                  <a:gd name="connsiteX6" fmla="*/ 24667 w 194613"/>
                  <a:gd name="connsiteY6" fmla="*/ -322 h 54734"/>
                  <a:gd name="connsiteX7" fmla="*/ 194091 w 194613"/>
                  <a:gd name="connsiteY7" fmla="*/ 1496 h 54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4613" h="54734">
                    <a:moveTo>
                      <a:pt x="194091" y="1496"/>
                    </a:moveTo>
                    <a:lnTo>
                      <a:pt x="84059" y="54412"/>
                    </a:lnTo>
                    <a:lnTo>
                      <a:pt x="84595" y="54012"/>
                    </a:lnTo>
                    <a:lnTo>
                      <a:pt x="14347" y="53613"/>
                    </a:lnTo>
                    <a:lnTo>
                      <a:pt x="14037" y="53326"/>
                    </a:lnTo>
                    <a:cubicBezTo>
                      <a:pt x="-18889" y="20937"/>
                      <a:pt x="12696" y="16093"/>
                      <a:pt x="24342" y="-18"/>
                    </a:cubicBezTo>
                    <a:cubicBezTo>
                      <a:pt x="24342" y="-18"/>
                      <a:pt x="12696" y="16093"/>
                      <a:pt x="24667" y="-322"/>
                    </a:cubicBezTo>
                    <a:lnTo>
                      <a:pt x="194091" y="1496"/>
                    </a:lnTo>
                    <a:close/>
                  </a:path>
                </a:pathLst>
              </a:custGeom>
              <a:solidFill>
                <a:srgbClr val="D67DF6"/>
              </a:solidFill>
              <a:ln w="15770" cap="rnd">
                <a:solidFill>
                  <a:srgbClr val="000000"/>
                </a:solid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21DC1621-8D0D-6425-AFCA-E7A7957AAF55}"/>
                  </a:ext>
                </a:extLst>
              </p:cNvPr>
              <p:cNvSpPr/>
              <p:nvPr/>
            </p:nvSpPr>
            <p:spPr>
              <a:xfrm>
                <a:off x="7014338" y="3710844"/>
                <a:ext cx="334440" cy="54069"/>
              </a:xfrm>
              <a:custGeom>
                <a:avLst/>
                <a:gdLst>
                  <a:gd name="connsiteX0" fmla="*/ 277568 w 334440"/>
                  <a:gd name="connsiteY0" fmla="*/ 53746 h 54069"/>
                  <a:gd name="connsiteX1" fmla="*/ 333918 w 334440"/>
                  <a:gd name="connsiteY1" fmla="*/ 6149 h 54069"/>
                  <a:gd name="connsiteX2" fmla="*/ -522 w 334440"/>
                  <a:gd name="connsiteY2" fmla="*/ -323 h 54069"/>
                  <a:gd name="connsiteX3" fmla="*/ 197 w 334440"/>
                  <a:gd name="connsiteY3" fmla="*/ -222 h 54069"/>
                  <a:gd name="connsiteX4" fmla="*/ 197 w 334440"/>
                  <a:gd name="connsiteY4" fmla="*/ 46346 h 54069"/>
                  <a:gd name="connsiteX5" fmla="*/ 197 w 334440"/>
                  <a:gd name="connsiteY5" fmla="*/ 46141 h 54069"/>
                  <a:gd name="connsiteX6" fmla="*/ 277568 w 334440"/>
                  <a:gd name="connsiteY6" fmla="*/ 53746 h 54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4440" h="54069">
                    <a:moveTo>
                      <a:pt x="277568" y="53746"/>
                    </a:moveTo>
                    <a:lnTo>
                      <a:pt x="333918" y="6149"/>
                    </a:lnTo>
                    <a:lnTo>
                      <a:pt x="-522" y="-323"/>
                    </a:lnTo>
                    <a:lnTo>
                      <a:pt x="197" y="-222"/>
                    </a:lnTo>
                    <a:lnTo>
                      <a:pt x="197" y="46346"/>
                    </a:lnTo>
                    <a:lnTo>
                      <a:pt x="197" y="46141"/>
                    </a:lnTo>
                    <a:lnTo>
                      <a:pt x="277568" y="53746"/>
                    </a:lnTo>
                    <a:close/>
                  </a:path>
                </a:pathLst>
              </a:custGeom>
              <a:solidFill>
                <a:srgbClr val="F67DA2"/>
              </a:solidFill>
              <a:ln w="15770" cap="rnd">
                <a:solidFill>
                  <a:srgbClr val="000000"/>
                </a:solidFill>
                <a:prstDash val="solid"/>
                <a:round/>
              </a:ln>
            </p:spPr>
            <p:txBody>
              <a:bodyPr rtlCol="0" anchor="ctr"/>
              <a:lstStyle/>
              <a:p>
                <a:endParaRPr lang="en-US"/>
              </a:p>
            </p:txBody>
          </p:sp>
        </p:grpSp>
        <p:sp>
          <p:nvSpPr>
            <p:cNvPr id="83" name="Freeform: Shape 82">
              <a:extLst>
                <a:ext uri="{FF2B5EF4-FFF2-40B4-BE49-F238E27FC236}">
                  <a16:creationId xmlns:a16="http://schemas.microsoft.com/office/drawing/2014/main" id="{046A34F4-D7FE-7144-671C-9FF8B497B393}"/>
                </a:ext>
              </a:extLst>
            </p:cNvPr>
            <p:cNvSpPr/>
            <p:nvPr/>
          </p:nvSpPr>
          <p:spPr>
            <a:xfrm rot="5400000">
              <a:off x="6646683" y="3824784"/>
              <a:ext cx="302118" cy="68879"/>
            </a:xfrm>
            <a:custGeom>
              <a:avLst/>
              <a:gdLst>
                <a:gd name="connsiteX0" fmla="*/ 287297 w 302118"/>
                <a:gd name="connsiteY0" fmla="*/ 68885 h 68879"/>
                <a:gd name="connsiteX1" fmla="*/ 280357 w 302118"/>
                <a:gd name="connsiteY1" fmla="*/ 15893 h 68879"/>
                <a:gd name="connsiteX2" fmla="*/ 280330 w 302118"/>
                <a:gd name="connsiteY2" fmla="*/ 16278 h 68879"/>
                <a:gd name="connsiteX3" fmla="*/ 77285 w 302118"/>
                <a:gd name="connsiteY3" fmla="*/ 184 h 68879"/>
                <a:gd name="connsiteX4" fmla="*/ 41736 w 302118"/>
                <a:gd name="connsiteY4" fmla="*/ 22471 h 68879"/>
                <a:gd name="connsiteX5" fmla="*/ 40 w 302118"/>
                <a:gd name="connsiteY5" fmla="*/ 54662 h 68879"/>
                <a:gd name="connsiteX6" fmla="*/ 287297 w 302118"/>
                <a:gd name="connsiteY6" fmla="*/ 68885 h 68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118" h="68879">
                  <a:moveTo>
                    <a:pt x="287297" y="68885"/>
                  </a:moveTo>
                  <a:cubicBezTo>
                    <a:pt x="313727" y="29240"/>
                    <a:pt x="300597" y="33112"/>
                    <a:pt x="280357" y="15893"/>
                  </a:cubicBezTo>
                  <a:cubicBezTo>
                    <a:pt x="280357" y="15893"/>
                    <a:pt x="300597" y="33112"/>
                    <a:pt x="280330" y="16278"/>
                  </a:cubicBezTo>
                  <a:lnTo>
                    <a:pt x="77285" y="184"/>
                  </a:lnTo>
                  <a:cubicBezTo>
                    <a:pt x="76911" y="-1496"/>
                    <a:pt x="61298" y="8956"/>
                    <a:pt x="41736" y="22471"/>
                  </a:cubicBezTo>
                  <a:cubicBezTo>
                    <a:pt x="22173" y="35987"/>
                    <a:pt x="-1338" y="52567"/>
                    <a:pt x="40" y="54662"/>
                  </a:cubicBezTo>
                  <a:lnTo>
                    <a:pt x="287297" y="68885"/>
                  </a:lnTo>
                  <a:close/>
                </a:path>
              </a:pathLst>
            </a:custGeom>
            <a:solidFill>
              <a:srgbClr val="D67DF6"/>
            </a:solidFill>
            <a:ln w="15770" cap="rnd">
              <a:solidFill>
                <a:srgbClr val="000000"/>
              </a:solid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1699B588-20F6-7F24-22AC-2B6DE9751DAF}"/>
                </a:ext>
              </a:extLst>
            </p:cNvPr>
            <p:cNvSpPr/>
            <p:nvPr/>
          </p:nvSpPr>
          <p:spPr>
            <a:xfrm rot="5400000">
              <a:off x="6372396" y="3798993"/>
              <a:ext cx="287415" cy="54674"/>
            </a:xfrm>
            <a:custGeom>
              <a:avLst/>
              <a:gdLst>
                <a:gd name="connsiteX0" fmla="*/ 274290 w 287415"/>
                <a:gd name="connsiteY0" fmla="*/ 53159 h 54674"/>
                <a:gd name="connsiteX1" fmla="*/ 287072 w 287415"/>
                <a:gd name="connsiteY1" fmla="*/ 1054 h 54674"/>
                <a:gd name="connsiteX2" fmla="*/ 287398 w 287415"/>
                <a:gd name="connsiteY2" fmla="*/ 749 h 54674"/>
                <a:gd name="connsiteX3" fmla="*/ 8518 w 287415"/>
                <a:gd name="connsiteY3" fmla="*/ 9 h 54674"/>
                <a:gd name="connsiteX4" fmla="*/ 8375 w 287415"/>
                <a:gd name="connsiteY4" fmla="*/ 227 h 54674"/>
                <a:gd name="connsiteX5" fmla="*/ 17117 w 287415"/>
                <a:gd name="connsiteY5" fmla="*/ 54618 h 54674"/>
                <a:gd name="connsiteX6" fmla="*/ 17811 w 287415"/>
                <a:gd name="connsiteY6" fmla="*/ 54684 h 54674"/>
                <a:gd name="connsiteX7" fmla="*/ 274290 w 287415"/>
                <a:gd name="connsiteY7" fmla="*/ 53159 h 54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7415" h="54674">
                  <a:moveTo>
                    <a:pt x="274290" y="53159"/>
                  </a:moveTo>
                  <a:cubicBezTo>
                    <a:pt x="241674" y="22295"/>
                    <a:pt x="279142" y="17164"/>
                    <a:pt x="287072" y="1054"/>
                  </a:cubicBezTo>
                  <a:cubicBezTo>
                    <a:pt x="287072" y="1054"/>
                    <a:pt x="279142" y="17164"/>
                    <a:pt x="287398" y="749"/>
                  </a:cubicBezTo>
                  <a:lnTo>
                    <a:pt x="8518" y="9"/>
                  </a:lnTo>
                  <a:cubicBezTo>
                    <a:pt x="-2021" y="16323"/>
                    <a:pt x="8375" y="227"/>
                    <a:pt x="8375" y="227"/>
                  </a:cubicBezTo>
                  <a:cubicBezTo>
                    <a:pt x="-2021" y="16323"/>
                    <a:pt x="-6380" y="35437"/>
                    <a:pt x="17117" y="54618"/>
                  </a:cubicBezTo>
                  <a:lnTo>
                    <a:pt x="17811" y="54684"/>
                  </a:lnTo>
                  <a:lnTo>
                    <a:pt x="274290" y="53159"/>
                  </a:lnTo>
                  <a:close/>
                </a:path>
              </a:pathLst>
            </a:custGeom>
            <a:solidFill>
              <a:srgbClr val="7DF6A7"/>
            </a:solidFill>
            <a:ln w="15770" cap="rnd">
              <a:solidFill>
                <a:srgbClr val="000000"/>
              </a:solid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0CACD428-37B2-8DD1-E074-4A7979597AB2}"/>
                </a:ext>
              </a:extLst>
            </p:cNvPr>
            <p:cNvSpPr/>
            <p:nvPr/>
          </p:nvSpPr>
          <p:spPr>
            <a:xfrm rot="5400000">
              <a:off x="6465395" y="3770626"/>
              <a:ext cx="377871" cy="55107"/>
            </a:xfrm>
            <a:custGeom>
              <a:avLst/>
              <a:gdLst>
                <a:gd name="connsiteX0" fmla="*/ 377134 w 377871"/>
                <a:gd name="connsiteY0" fmla="*/ 8446 h 55107"/>
                <a:gd name="connsiteX1" fmla="*/ 377853 w 377871"/>
                <a:gd name="connsiteY1" fmla="*/ 55115 h 55107"/>
                <a:gd name="connsiteX2" fmla="*/ -18 w 377871"/>
                <a:gd name="connsiteY2" fmla="*/ 49921 h 55107"/>
                <a:gd name="connsiteX3" fmla="*/ 21612 w 377871"/>
                <a:gd name="connsiteY3" fmla="*/ 8 h 55107"/>
                <a:gd name="connsiteX4" fmla="*/ 377134 w 377871"/>
                <a:gd name="connsiteY4" fmla="*/ 8446 h 55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871" h="55107">
                  <a:moveTo>
                    <a:pt x="377134" y="8446"/>
                  </a:moveTo>
                  <a:lnTo>
                    <a:pt x="377853" y="55115"/>
                  </a:lnTo>
                  <a:lnTo>
                    <a:pt x="-18" y="49921"/>
                  </a:lnTo>
                  <a:lnTo>
                    <a:pt x="21612" y="8"/>
                  </a:lnTo>
                  <a:lnTo>
                    <a:pt x="377134" y="8446"/>
                  </a:lnTo>
                  <a:close/>
                </a:path>
              </a:pathLst>
            </a:custGeom>
            <a:solidFill>
              <a:srgbClr val="7D88F6"/>
            </a:solidFill>
            <a:ln w="15770" cap="rnd">
              <a:solidFill>
                <a:srgbClr val="000000"/>
              </a:solid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F7C5FD95-B01C-0388-0FE8-1B622A3FBECC}"/>
                </a:ext>
              </a:extLst>
            </p:cNvPr>
            <p:cNvSpPr/>
            <p:nvPr/>
          </p:nvSpPr>
          <p:spPr>
            <a:xfrm rot="5400000">
              <a:off x="6828556" y="3964595"/>
              <a:ext cx="161272" cy="59925"/>
            </a:xfrm>
            <a:custGeom>
              <a:avLst/>
              <a:gdLst>
                <a:gd name="connsiteX0" fmla="*/ 152414 w 161272"/>
                <a:gd name="connsiteY0" fmla="*/ 59930 h 59925"/>
                <a:gd name="connsiteX1" fmla="*/ 145097 w 161272"/>
                <a:gd name="connsiteY1" fmla="*/ 3674 h 59925"/>
                <a:gd name="connsiteX2" fmla="*/ 142684 w 161272"/>
                <a:gd name="connsiteY2" fmla="*/ 2886 h 59925"/>
                <a:gd name="connsiteX3" fmla="*/ 122733 w 161272"/>
                <a:gd name="connsiteY3" fmla="*/ 381 h 59925"/>
                <a:gd name="connsiteX4" fmla="*/ 122877 w 161272"/>
                <a:gd name="connsiteY4" fmla="*/ 5 h 59925"/>
                <a:gd name="connsiteX5" fmla="*/ -16 w 161272"/>
                <a:gd name="connsiteY5" fmla="*/ 50317 h 59925"/>
                <a:gd name="connsiteX6" fmla="*/ 81 w 161272"/>
                <a:gd name="connsiteY6" fmla="*/ 50892 h 59925"/>
                <a:gd name="connsiteX7" fmla="*/ 152414 w 161272"/>
                <a:gd name="connsiteY7" fmla="*/ 59930 h 59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272" h="59925">
                  <a:moveTo>
                    <a:pt x="152414" y="59930"/>
                  </a:moveTo>
                  <a:cubicBezTo>
                    <a:pt x="167562" y="42850"/>
                    <a:pt x="162022" y="16669"/>
                    <a:pt x="145097" y="3674"/>
                  </a:cubicBezTo>
                  <a:cubicBezTo>
                    <a:pt x="145097" y="3674"/>
                    <a:pt x="162022" y="16669"/>
                    <a:pt x="142684" y="2886"/>
                  </a:cubicBezTo>
                  <a:lnTo>
                    <a:pt x="122733" y="381"/>
                  </a:lnTo>
                  <a:lnTo>
                    <a:pt x="122877" y="5"/>
                  </a:lnTo>
                  <a:lnTo>
                    <a:pt x="-16" y="50317"/>
                  </a:lnTo>
                  <a:lnTo>
                    <a:pt x="81" y="50892"/>
                  </a:lnTo>
                  <a:lnTo>
                    <a:pt x="152414" y="59930"/>
                  </a:lnTo>
                  <a:close/>
                </a:path>
              </a:pathLst>
            </a:custGeom>
            <a:solidFill>
              <a:srgbClr val="7D88F6"/>
            </a:solidFill>
            <a:ln w="15770" cap="rnd">
              <a:solidFill>
                <a:srgbClr val="000000"/>
              </a:solidFill>
              <a:prstDash val="solid"/>
              <a:miter/>
            </a:ln>
          </p:spPr>
          <p:txBody>
            <a:bodyPr rtlCol="0" anchor="ctr"/>
            <a:lstStyle/>
            <a:p>
              <a:endParaRPr lang="en-US"/>
            </a:p>
          </p:txBody>
        </p:sp>
      </p:grpSp>
      <p:cxnSp>
        <p:nvCxnSpPr>
          <p:cNvPr id="101" name="Straight Arrow Connector 100">
            <a:extLst>
              <a:ext uri="{FF2B5EF4-FFF2-40B4-BE49-F238E27FC236}">
                <a16:creationId xmlns:a16="http://schemas.microsoft.com/office/drawing/2014/main" id="{9FE9DF11-C7D0-A347-A44E-B010BD65D7C6}"/>
              </a:ext>
            </a:extLst>
          </p:cNvPr>
          <p:cNvCxnSpPr>
            <a:cxnSpLocks/>
          </p:cNvCxnSpPr>
          <p:nvPr/>
        </p:nvCxnSpPr>
        <p:spPr>
          <a:xfrm>
            <a:off x="5770769" y="2525752"/>
            <a:ext cx="0" cy="542345"/>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111" name="Straight Arrow Connector 110">
            <a:extLst>
              <a:ext uri="{FF2B5EF4-FFF2-40B4-BE49-F238E27FC236}">
                <a16:creationId xmlns:a16="http://schemas.microsoft.com/office/drawing/2014/main" id="{3763793D-B7EA-C0AE-0E14-B7730F45C9E7}"/>
              </a:ext>
            </a:extLst>
          </p:cNvPr>
          <p:cNvCxnSpPr>
            <a:cxnSpLocks/>
          </p:cNvCxnSpPr>
          <p:nvPr/>
        </p:nvCxnSpPr>
        <p:spPr>
          <a:xfrm>
            <a:off x="5770768" y="3605511"/>
            <a:ext cx="0" cy="542345"/>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pic>
        <p:nvPicPr>
          <p:cNvPr id="113" name="Picture 112" descr="A blue ribbon with a red object on it&#10;&#10;AI-generated content may be incorrect.">
            <a:extLst>
              <a:ext uri="{FF2B5EF4-FFF2-40B4-BE49-F238E27FC236}">
                <a16:creationId xmlns:a16="http://schemas.microsoft.com/office/drawing/2014/main" id="{0B1CF7EF-AFE8-FDA7-D0A6-C2A1B54C55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62927" y="4174586"/>
            <a:ext cx="1415682" cy="1432782"/>
          </a:xfrm>
          <a:prstGeom prst="rect">
            <a:avLst/>
          </a:prstGeom>
        </p:spPr>
      </p:pic>
      <p:sp>
        <p:nvSpPr>
          <p:cNvPr id="114" name="TextBox 113">
            <a:extLst>
              <a:ext uri="{FF2B5EF4-FFF2-40B4-BE49-F238E27FC236}">
                <a16:creationId xmlns:a16="http://schemas.microsoft.com/office/drawing/2014/main" id="{C62D0ACA-1967-2DE1-A826-F9ADABD2EFD3}"/>
              </a:ext>
            </a:extLst>
          </p:cNvPr>
          <p:cNvSpPr txBox="1"/>
          <p:nvPr/>
        </p:nvSpPr>
        <p:spPr>
          <a:xfrm>
            <a:off x="5912436" y="1070311"/>
            <a:ext cx="2843560" cy="523220"/>
          </a:xfrm>
          <a:prstGeom prst="rect">
            <a:avLst/>
          </a:prstGeom>
          <a:noFill/>
        </p:spPr>
        <p:txBody>
          <a:bodyPr wrap="square" rtlCol="0">
            <a:spAutoFit/>
          </a:bodyPr>
          <a:lstStyle/>
          <a:p>
            <a:r>
              <a:rPr lang="en-US" sz="2800" dirty="0"/>
              <a:t>Transcription</a:t>
            </a:r>
          </a:p>
        </p:txBody>
      </p:sp>
      <p:sp>
        <p:nvSpPr>
          <p:cNvPr id="115" name="TextBox 114">
            <a:extLst>
              <a:ext uri="{FF2B5EF4-FFF2-40B4-BE49-F238E27FC236}">
                <a16:creationId xmlns:a16="http://schemas.microsoft.com/office/drawing/2014/main" id="{62773D64-C083-0C8E-AA31-077B549661FB}"/>
              </a:ext>
            </a:extLst>
          </p:cNvPr>
          <p:cNvSpPr txBox="1"/>
          <p:nvPr/>
        </p:nvSpPr>
        <p:spPr>
          <a:xfrm>
            <a:off x="5994802" y="2550225"/>
            <a:ext cx="2843560" cy="523220"/>
          </a:xfrm>
          <a:prstGeom prst="rect">
            <a:avLst/>
          </a:prstGeom>
          <a:noFill/>
        </p:spPr>
        <p:txBody>
          <a:bodyPr wrap="square" rtlCol="0">
            <a:spAutoFit/>
          </a:bodyPr>
          <a:lstStyle/>
          <a:p>
            <a:r>
              <a:rPr lang="en-US" sz="2800" dirty="0"/>
              <a:t>Translation</a:t>
            </a:r>
          </a:p>
        </p:txBody>
      </p:sp>
      <p:sp>
        <p:nvSpPr>
          <p:cNvPr id="116" name="TextBox 115">
            <a:extLst>
              <a:ext uri="{FF2B5EF4-FFF2-40B4-BE49-F238E27FC236}">
                <a16:creationId xmlns:a16="http://schemas.microsoft.com/office/drawing/2014/main" id="{EB42A88B-4B4E-FB38-E973-0B05AFEDD99F}"/>
              </a:ext>
            </a:extLst>
          </p:cNvPr>
          <p:cNvSpPr txBox="1"/>
          <p:nvPr/>
        </p:nvSpPr>
        <p:spPr>
          <a:xfrm>
            <a:off x="5994802" y="3581277"/>
            <a:ext cx="2843560" cy="523220"/>
          </a:xfrm>
          <a:prstGeom prst="rect">
            <a:avLst/>
          </a:prstGeom>
          <a:noFill/>
        </p:spPr>
        <p:txBody>
          <a:bodyPr wrap="square" rtlCol="0">
            <a:spAutoFit/>
          </a:bodyPr>
          <a:lstStyle/>
          <a:p>
            <a:r>
              <a:rPr lang="en-US" sz="2800" dirty="0"/>
              <a:t>Folding</a:t>
            </a:r>
          </a:p>
        </p:txBody>
      </p:sp>
      <p:grpSp>
        <p:nvGrpSpPr>
          <p:cNvPr id="128" name="Group 127">
            <a:extLst>
              <a:ext uri="{FF2B5EF4-FFF2-40B4-BE49-F238E27FC236}">
                <a16:creationId xmlns:a16="http://schemas.microsoft.com/office/drawing/2014/main" id="{EE98DAA6-36AA-CF1E-64C2-986BCE47C0EA}"/>
              </a:ext>
            </a:extLst>
          </p:cNvPr>
          <p:cNvGrpSpPr/>
          <p:nvPr/>
        </p:nvGrpSpPr>
        <p:grpSpPr>
          <a:xfrm>
            <a:off x="4444662" y="2871819"/>
            <a:ext cx="2676131" cy="816562"/>
            <a:chOff x="4791576" y="3096515"/>
            <a:chExt cx="2676131" cy="816562"/>
          </a:xfrm>
        </p:grpSpPr>
        <p:sp>
          <p:nvSpPr>
            <p:cNvPr id="102" name="Freeform: Shape 101">
              <a:extLst>
                <a:ext uri="{FF2B5EF4-FFF2-40B4-BE49-F238E27FC236}">
                  <a16:creationId xmlns:a16="http://schemas.microsoft.com/office/drawing/2014/main" id="{569312F6-35FF-4E48-EDF9-2C7A3CCEF871}"/>
                </a:ext>
              </a:extLst>
            </p:cNvPr>
            <p:cNvSpPr/>
            <p:nvPr/>
          </p:nvSpPr>
          <p:spPr>
            <a:xfrm>
              <a:off x="4943976" y="3248914"/>
              <a:ext cx="2390185" cy="539653"/>
            </a:xfrm>
            <a:custGeom>
              <a:avLst/>
              <a:gdLst>
                <a:gd name="connsiteX0" fmla="*/ 0 w 3822700"/>
                <a:gd name="connsiteY0" fmla="*/ 0 h 1431302"/>
                <a:gd name="connsiteX1" fmla="*/ 584200 w 3822700"/>
                <a:gd name="connsiteY1" fmla="*/ 914400 h 1431302"/>
                <a:gd name="connsiteX2" fmla="*/ 1447800 w 3822700"/>
                <a:gd name="connsiteY2" fmla="*/ 127000 h 1431302"/>
                <a:gd name="connsiteX3" fmla="*/ 3238500 w 3822700"/>
                <a:gd name="connsiteY3" fmla="*/ 1422400 h 1431302"/>
                <a:gd name="connsiteX4" fmla="*/ 3822700 w 3822700"/>
                <a:gd name="connsiteY4" fmla="*/ 596900 h 1431302"/>
                <a:gd name="connsiteX0" fmla="*/ 0 w 3822700"/>
                <a:gd name="connsiteY0" fmla="*/ 0 h 1072635"/>
                <a:gd name="connsiteX1" fmla="*/ 584200 w 3822700"/>
                <a:gd name="connsiteY1" fmla="*/ 914400 h 1072635"/>
                <a:gd name="connsiteX2" fmla="*/ 1447800 w 3822700"/>
                <a:gd name="connsiteY2" fmla="*/ 127000 h 1072635"/>
                <a:gd name="connsiteX3" fmla="*/ 2703466 w 3822700"/>
                <a:gd name="connsiteY3" fmla="*/ 1045601 h 1072635"/>
                <a:gd name="connsiteX4" fmla="*/ 3822700 w 3822700"/>
                <a:gd name="connsiteY4" fmla="*/ 596900 h 1072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2700" h="1072635">
                  <a:moveTo>
                    <a:pt x="0" y="0"/>
                  </a:moveTo>
                  <a:cubicBezTo>
                    <a:pt x="171450" y="446616"/>
                    <a:pt x="342900" y="893233"/>
                    <a:pt x="584200" y="914400"/>
                  </a:cubicBezTo>
                  <a:cubicBezTo>
                    <a:pt x="825500" y="935567"/>
                    <a:pt x="1094589" y="105133"/>
                    <a:pt x="1447800" y="127000"/>
                  </a:cubicBezTo>
                  <a:cubicBezTo>
                    <a:pt x="1801011" y="148867"/>
                    <a:pt x="2307649" y="967284"/>
                    <a:pt x="2703466" y="1045601"/>
                  </a:cubicBezTo>
                  <a:cubicBezTo>
                    <a:pt x="3099283" y="1123918"/>
                    <a:pt x="3728508" y="1048808"/>
                    <a:pt x="3822700" y="596900"/>
                  </a:cubicBez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87E45D25-4909-4D4D-2332-1B924AB33D17}"/>
                </a:ext>
              </a:extLst>
            </p:cNvPr>
            <p:cNvSpPr/>
            <p:nvPr/>
          </p:nvSpPr>
          <p:spPr>
            <a:xfrm>
              <a:off x="4791576" y="3096515"/>
              <a:ext cx="304800" cy="304800"/>
            </a:xfrm>
            <a:prstGeom prst="ellipse">
              <a:avLst/>
            </a:prstGeom>
            <a:solidFill>
              <a:srgbClr val="88CD6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AC873632-9B1C-2031-3DFF-1C5FF6C43761}"/>
                </a:ext>
              </a:extLst>
            </p:cNvPr>
            <p:cNvSpPr/>
            <p:nvPr/>
          </p:nvSpPr>
          <p:spPr>
            <a:xfrm>
              <a:off x="4972896" y="3456686"/>
              <a:ext cx="304800" cy="304800"/>
            </a:xfrm>
            <a:prstGeom prst="ellipse">
              <a:avLst/>
            </a:prstGeom>
            <a:solidFill>
              <a:srgbClr val="CDB06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F10767F8-7C2E-E8F4-35A9-2C238BCDAA53}"/>
                </a:ext>
              </a:extLst>
            </p:cNvPr>
            <p:cNvSpPr/>
            <p:nvPr/>
          </p:nvSpPr>
          <p:spPr>
            <a:xfrm>
              <a:off x="5352069" y="3456566"/>
              <a:ext cx="304800" cy="304800"/>
            </a:xfrm>
            <a:prstGeom prst="ellipse">
              <a:avLst/>
            </a:prstGeom>
            <a:solidFill>
              <a:srgbClr val="7569C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362875C7-7861-4DC0-9FD9-C83331C424FC}"/>
                </a:ext>
              </a:extLst>
            </p:cNvPr>
            <p:cNvSpPr/>
            <p:nvPr/>
          </p:nvSpPr>
          <p:spPr>
            <a:xfrm>
              <a:off x="5646203" y="3200341"/>
              <a:ext cx="304800" cy="304800"/>
            </a:xfrm>
            <a:prstGeom prst="ellipse">
              <a:avLst/>
            </a:prstGeom>
            <a:solidFill>
              <a:srgbClr val="88CD6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8375F195-14D3-F5BF-FECE-50E240994A6D}"/>
                </a:ext>
              </a:extLst>
            </p:cNvPr>
            <p:cNvSpPr/>
            <p:nvPr/>
          </p:nvSpPr>
          <p:spPr>
            <a:xfrm>
              <a:off x="6025376" y="3304166"/>
              <a:ext cx="304800" cy="304800"/>
            </a:xfrm>
            <a:prstGeom prst="ellipse">
              <a:avLst/>
            </a:prstGeom>
            <a:solidFill>
              <a:srgbClr val="7569C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109BF13D-7409-FEAF-70A6-B1788A464E2F}"/>
                </a:ext>
              </a:extLst>
            </p:cNvPr>
            <p:cNvSpPr/>
            <p:nvPr/>
          </p:nvSpPr>
          <p:spPr>
            <a:xfrm>
              <a:off x="6359156" y="3553856"/>
              <a:ext cx="304800" cy="304800"/>
            </a:xfrm>
            <a:prstGeom prst="ellipse">
              <a:avLst/>
            </a:prstGeom>
            <a:solidFill>
              <a:srgbClr val="69A9C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F3E103CD-E90A-3E2B-6615-DBC9633F0D80}"/>
                </a:ext>
              </a:extLst>
            </p:cNvPr>
            <p:cNvSpPr/>
            <p:nvPr/>
          </p:nvSpPr>
          <p:spPr>
            <a:xfrm>
              <a:off x="7162907" y="3541342"/>
              <a:ext cx="304800" cy="304800"/>
            </a:xfrm>
            <a:prstGeom prst="ellipse">
              <a:avLst/>
            </a:prstGeom>
            <a:solidFill>
              <a:srgbClr val="7569C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F2D23B5B-596A-7403-403A-1386F1AD2AFB}"/>
                </a:ext>
              </a:extLst>
            </p:cNvPr>
            <p:cNvSpPr/>
            <p:nvPr/>
          </p:nvSpPr>
          <p:spPr>
            <a:xfrm>
              <a:off x="6738329" y="3608277"/>
              <a:ext cx="304800" cy="304800"/>
            </a:xfrm>
            <a:prstGeom prst="ellipse">
              <a:avLst/>
            </a:prstGeom>
            <a:solidFill>
              <a:srgbClr val="69A9C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9" name="Straight Arrow Connector 128">
            <a:extLst>
              <a:ext uri="{FF2B5EF4-FFF2-40B4-BE49-F238E27FC236}">
                <a16:creationId xmlns:a16="http://schemas.microsoft.com/office/drawing/2014/main" id="{34897EEC-D6A1-204A-ED05-E6D85F750143}"/>
              </a:ext>
            </a:extLst>
          </p:cNvPr>
          <p:cNvCxnSpPr>
            <a:cxnSpLocks/>
          </p:cNvCxnSpPr>
          <p:nvPr/>
        </p:nvCxnSpPr>
        <p:spPr>
          <a:xfrm>
            <a:off x="5796342" y="5432707"/>
            <a:ext cx="0" cy="542345"/>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30" name="TextBox 129">
            <a:extLst>
              <a:ext uri="{FF2B5EF4-FFF2-40B4-BE49-F238E27FC236}">
                <a16:creationId xmlns:a16="http://schemas.microsoft.com/office/drawing/2014/main" id="{1B345565-7DBC-BEC5-91F9-5697138292E9}"/>
              </a:ext>
            </a:extLst>
          </p:cNvPr>
          <p:cNvSpPr txBox="1"/>
          <p:nvPr/>
        </p:nvSpPr>
        <p:spPr>
          <a:xfrm>
            <a:off x="6016481" y="5451832"/>
            <a:ext cx="2843560" cy="523220"/>
          </a:xfrm>
          <a:prstGeom prst="rect">
            <a:avLst/>
          </a:prstGeom>
          <a:noFill/>
        </p:spPr>
        <p:txBody>
          <a:bodyPr wrap="square" rtlCol="0">
            <a:spAutoFit/>
          </a:bodyPr>
          <a:lstStyle/>
          <a:p>
            <a:r>
              <a:rPr lang="en-US" sz="2800" dirty="0"/>
              <a:t>Function</a:t>
            </a:r>
          </a:p>
        </p:txBody>
      </p:sp>
      <p:sp>
        <p:nvSpPr>
          <p:cNvPr id="131" name="TextBox 130">
            <a:extLst>
              <a:ext uri="{FF2B5EF4-FFF2-40B4-BE49-F238E27FC236}">
                <a16:creationId xmlns:a16="http://schemas.microsoft.com/office/drawing/2014/main" id="{94775352-BC6D-C188-CEAC-FE65985ABD99}"/>
              </a:ext>
            </a:extLst>
          </p:cNvPr>
          <p:cNvSpPr txBox="1"/>
          <p:nvPr/>
        </p:nvSpPr>
        <p:spPr>
          <a:xfrm>
            <a:off x="4393475" y="5876957"/>
            <a:ext cx="2843560" cy="523220"/>
          </a:xfrm>
          <a:prstGeom prst="rect">
            <a:avLst/>
          </a:prstGeom>
          <a:noFill/>
        </p:spPr>
        <p:txBody>
          <a:bodyPr wrap="square" rtlCol="0">
            <a:spAutoFit/>
          </a:bodyPr>
          <a:lstStyle/>
          <a:p>
            <a:pPr algn="ctr"/>
            <a:r>
              <a:rPr lang="en-US" sz="2800" b="1" dirty="0"/>
              <a:t>Traits</a:t>
            </a:r>
          </a:p>
        </p:txBody>
      </p:sp>
      <p:sp>
        <p:nvSpPr>
          <p:cNvPr id="132" name="TextBox 131">
            <a:extLst>
              <a:ext uri="{FF2B5EF4-FFF2-40B4-BE49-F238E27FC236}">
                <a16:creationId xmlns:a16="http://schemas.microsoft.com/office/drawing/2014/main" id="{55715B54-EEBE-8E9C-292B-A133D0B69A3A}"/>
              </a:ext>
            </a:extLst>
          </p:cNvPr>
          <p:cNvSpPr txBox="1"/>
          <p:nvPr/>
        </p:nvSpPr>
        <p:spPr>
          <a:xfrm>
            <a:off x="1642871" y="220923"/>
            <a:ext cx="2843560" cy="523220"/>
          </a:xfrm>
          <a:prstGeom prst="rect">
            <a:avLst/>
          </a:prstGeom>
          <a:noFill/>
        </p:spPr>
        <p:txBody>
          <a:bodyPr wrap="square" rtlCol="0">
            <a:spAutoFit/>
          </a:bodyPr>
          <a:lstStyle/>
          <a:p>
            <a:pPr algn="r"/>
            <a:r>
              <a:rPr lang="en-US" sz="2800" dirty="0"/>
              <a:t>DNA (genes)</a:t>
            </a:r>
          </a:p>
        </p:txBody>
      </p:sp>
      <p:sp>
        <p:nvSpPr>
          <p:cNvPr id="133" name="TextBox 132">
            <a:extLst>
              <a:ext uri="{FF2B5EF4-FFF2-40B4-BE49-F238E27FC236}">
                <a16:creationId xmlns:a16="http://schemas.microsoft.com/office/drawing/2014/main" id="{DF15A379-4392-6AF6-1669-34494B87594F}"/>
              </a:ext>
            </a:extLst>
          </p:cNvPr>
          <p:cNvSpPr txBox="1"/>
          <p:nvPr/>
        </p:nvSpPr>
        <p:spPr>
          <a:xfrm>
            <a:off x="1642871" y="1715117"/>
            <a:ext cx="2843560" cy="523220"/>
          </a:xfrm>
          <a:prstGeom prst="rect">
            <a:avLst/>
          </a:prstGeom>
          <a:noFill/>
        </p:spPr>
        <p:txBody>
          <a:bodyPr wrap="square" rtlCol="0">
            <a:spAutoFit/>
          </a:bodyPr>
          <a:lstStyle/>
          <a:p>
            <a:pPr algn="r"/>
            <a:r>
              <a:rPr lang="en-US" sz="2800" dirty="0"/>
              <a:t>mRNA</a:t>
            </a:r>
          </a:p>
        </p:txBody>
      </p:sp>
      <p:sp>
        <p:nvSpPr>
          <p:cNvPr id="134" name="TextBox 133">
            <a:extLst>
              <a:ext uri="{FF2B5EF4-FFF2-40B4-BE49-F238E27FC236}">
                <a16:creationId xmlns:a16="http://schemas.microsoft.com/office/drawing/2014/main" id="{BCB1263D-E523-5D97-AB5C-5882166835AA}"/>
              </a:ext>
            </a:extLst>
          </p:cNvPr>
          <p:cNvSpPr txBox="1"/>
          <p:nvPr/>
        </p:nvSpPr>
        <p:spPr>
          <a:xfrm>
            <a:off x="1687013" y="3004199"/>
            <a:ext cx="2843560" cy="523220"/>
          </a:xfrm>
          <a:prstGeom prst="rect">
            <a:avLst/>
          </a:prstGeom>
          <a:noFill/>
        </p:spPr>
        <p:txBody>
          <a:bodyPr wrap="square" rtlCol="0">
            <a:spAutoFit/>
          </a:bodyPr>
          <a:lstStyle/>
          <a:p>
            <a:pPr algn="r"/>
            <a:r>
              <a:rPr lang="en-US" sz="2800" dirty="0"/>
              <a:t>Amino Acids</a:t>
            </a:r>
          </a:p>
        </p:txBody>
      </p:sp>
      <p:sp>
        <p:nvSpPr>
          <p:cNvPr id="135" name="TextBox 134">
            <a:extLst>
              <a:ext uri="{FF2B5EF4-FFF2-40B4-BE49-F238E27FC236}">
                <a16:creationId xmlns:a16="http://schemas.microsoft.com/office/drawing/2014/main" id="{288375A2-15DC-3077-4A9B-485A5E118C31}"/>
              </a:ext>
            </a:extLst>
          </p:cNvPr>
          <p:cNvSpPr txBox="1"/>
          <p:nvPr/>
        </p:nvSpPr>
        <p:spPr>
          <a:xfrm>
            <a:off x="1782422" y="4597148"/>
            <a:ext cx="2843560" cy="523220"/>
          </a:xfrm>
          <a:prstGeom prst="rect">
            <a:avLst/>
          </a:prstGeom>
          <a:noFill/>
        </p:spPr>
        <p:txBody>
          <a:bodyPr wrap="square" rtlCol="0">
            <a:spAutoFit/>
          </a:bodyPr>
          <a:lstStyle/>
          <a:p>
            <a:pPr algn="r"/>
            <a:r>
              <a:rPr lang="en-US" sz="2800" dirty="0"/>
              <a:t>Protein</a:t>
            </a:r>
          </a:p>
        </p:txBody>
      </p:sp>
      <p:sp>
        <p:nvSpPr>
          <p:cNvPr id="136" name="TextBox 135">
            <a:extLst>
              <a:ext uri="{FF2B5EF4-FFF2-40B4-BE49-F238E27FC236}">
                <a16:creationId xmlns:a16="http://schemas.microsoft.com/office/drawing/2014/main" id="{191168FA-4740-F5EB-2E83-217FE5E0E044}"/>
              </a:ext>
            </a:extLst>
          </p:cNvPr>
          <p:cNvSpPr txBox="1"/>
          <p:nvPr/>
        </p:nvSpPr>
        <p:spPr>
          <a:xfrm>
            <a:off x="-88900" y="5876957"/>
            <a:ext cx="4714882" cy="523220"/>
          </a:xfrm>
          <a:prstGeom prst="rect">
            <a:avLst/>
          </a:prstGeom>
          <a:noFill/>
        </p:spPr>
        <p:txBody>
          <a:bodyPr wrap="square" rtlCol="0">
            <a:spAutoFit/>
          </a:bodyPr>
          <a:lstStyle/>
          <a:p>
            <a:pPr algn="r"/>
            <a:r>
              <a:rPr lang="en-US" sz="2800" dirty="0"/>
              <a:t>Disease state, cell type, etc.</a:t>
            </a:r>
          </a:p>
        </p:txBody>
      </p:sp>
      <p:cxnSp>
        <p:nvCxnSpPr>
          <p:cNvPr id="137" name="Straight Arrow Connector 136">
            <a:extLst>
              <a:ext uri="{FF2B5EF4-FFF2-40B4-BE49-F238E27FC236}">
                <a16:creationId xmlns:a16="http://schemas.microsoft.com/office/drawing/2014/main" id="{3E993F7D-8720-0F39-6033-C6D5698968B2}"/>
              </a:ext>
            </a:extLst>
          </p:cNvPr>
          <p:cNvCxnSpPr>
            <a:cxnSpLocks/>
          </p:cNvCxnSpPr>
          <p:nvPr/>
        </p:nvCxnSpPr>
        <p:spPr>
          <a:xfrm flipH="1">
            <a:off x="8042353" y="872787"/>
            <a:ext cx="603406" cy="395047"/>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141" name="Straight Arrow Connector 140">
            <a:extLst>
              <a:ext uri="{FF2B5EF4-FFF2-40B4-BE49-F238E27FC236}">
                <a16:creationId xmlns:a16="http://schemas.microsoft.com/office/drawing/2014/main" id="{BB6DB6FD-9F6A-4C8B-4299-D4F7EA2CDBE0}"/>
              </a:ext>
            </a:extLst>
          </p:cNvPr>
          <p:cNvCxnSpPr>
            <a:cxnSpLocks/>
          </p:cNvCxnSpPr>
          <p:nvPr/>
        </p:nvCxnSpPr>
        <p:spPr>
          <a:xfrm flipH="1" flipV="1">
            <a:off x="8042353" y="1444642"/>
            <a:ext cx="603406" cy="395047"/>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142" name="Straight Arrow Connector 141">
            <a:extLst>
              <a:ext uri="{FF2B5EF4-FFF2-40B4-BE49-F238E27FC236}">
                <a16:creationId xmlns:a16="http://schemas.microsoft.com/office/drawing/2014/main" id="{A368FB6E-06C1-8991-9B1B-4A16D95F82E9}"/>
              </a:ext>
            </a:extLst>
          </p:cNvPr>
          <p:cNvCxnSpPr>
            <a:cxnSpLocks/>
          </p:cNvCxnSpPr>
          <p:nvPr/>
        </p:nvCxnSpPr>
        <p:spPr>
          <a:xfrm flipH="1">
            <a:off x="7740650" y="2347556"/>
            <a:ext cx="603406" cy="395047"/>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143" name="Straight Arrow Connector 142">
            <a:extLst>
              <a:ext uri="{FF2B5EF4-FFF2-40B4-BE49-F238E27FC236}">
                <a16:creationId xmlns:a16="http://schemas.microsoft.com/office/drawing/2014/main" id="{7B6BCDD9-9C10-B958-CBFD-83452D234271}"/>
              </a:ext>
            </a:extLst>
          </p:cNvPr>
          <p:cNvCxnSpPr>
            <a:cxnSpLocks/>
          </p:cNvCxnSpPr>
          <p:nvPr/>
        </p:nvCxnSpPr>
        <p:spPr>
          <a:xfrm flipH="1" flipV="1">
            <a:off x="7740650" y="2919411"/>
            <a:ext cx="603406" cy="395047"/>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144" name="Straight Arrow Connector 143">
            <a:extLst>
              <a:ext uri="{FF2B5EF4-FFF2-40B4-BE49-F238E27FC236}">
                <a16:creationId xmlns:a16="http://schemas.microsoft.com/office/drawing/2014/main" id="{E86DB999-8C11-AC1A-84EE-289BC4782E3D}"/>
              </a:ext>
            </a:extLst>
          </p:cNvPr>
          <p:cNvCxnSpPr>
            <a:cxnSpLocks/>
          </p:cNvCxnSpPr>
          <p:nvPr/>
        </p:nvCxnSpPr>
        <p:spPr>
          <a:xfrm flipH="1">
            <a:off x="7438947" y="5215834"/>
            <a:ext cx="603406" cy="395047"/>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145" name="Straight Arrow Connector 144">
            <a:extLst>
              <a:ext uri="{FF2B5EF4-FFF2-40B4-BE49-F238E27FC236}">
                <a16:creationId xmlns:a16="http://schemas.microsoft.com/office/drawing/2014/main" id="{137461B2-4EF2-8C45-4EE2-0647A283C37D}"/>
              </a:ext>
            </a:extLst>
          </p:cNvPr>
          <p:cNvCxnSpPr>
            <a:cxnSpLocks/>
          </p:cNvCxnSpPr>
          <p:nvPr/>
        </p:nvCxnSpPr>
        <p:spPr>
          <a:xfrm flipH="1" flipV="1">
            <a:off x="7438947" y="5787689"/>
            <a:ext cx="603406" cy="395047"/>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146" name="Straight Arrow Connector 145">
            <a:extLst>
              <a:ext uri="{FF2B5EF4-FFF2-40B4-BE49-F238E27FC236}">
                <a16:creationId xmlns:a16="http://schemas.microsoft.com/office/drawing/2014/main" id="{C9C19180-590E-A428-02FA-F6EEC19F99EA}"/>
              </a:ext>
            </a:extLst>
          </p:cNvPr>
          <p:cNvCxnSpPr>
            <a:cxnSpLocks/>
          </p:cNvCxnSpPr>
          <p:nvPr/>
        </p:nvCxnSpPr>
        <p:spPr>
          <a:xfrm flipH="1">
            <a:off x="7237035" y="3874494"/>
            <a:ext cx="676478" cy="2440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48" name="TextBox 147">
            <a:extLst>
              <a:ext uri="{FF2B5EF4-FFF2-40B4-BE49-F238E27FC236}">
                <a16:creationId xmlns:a16="http://schemas.microsoft.com/office/drawing/2014/main" id="{D54765CC-0365-EE89-9CE9-1FBA4535CCB3}"/>
              </a:ext>
            </a:extLst>
          </p:cNvPr>
          <p:cNvSpPr txBox="1"/>
          <p:nvPr/>
        </p:nvSpPr>
        <p:spPr>
          <a:xfrm>
            <a:off x="8670348" y="429092"/>
            <a:ext cx="3153351" cy="523220"/>
          </a:xfrm>
          <a:prstGeom prst="rect">
            <a:avLst/>
          </a:prstGeom>
          <a:noFill/>
        </p:spPr>
        <p:txBody>
          <a:bodyPr wrap="square" rtlCol="0">
            <a:spAutoFit/>
          </a:bodyPr>
          <a:lstStyle/>
          <a:p>
            <a:r>
              <a:rPr lang="en-US" sz="2800" dirty="0"/>
              <a:t>Transcription factors</a:t>
            </a:r>
          </a:p>
        </p:txBody>
      </p:sp>
      <p:sp>
        <p:nvSpPr>
          <p:cNvPr id="149" name="TextBox 148">
            <a:extLst>
              <a:ext uri="{FF2B5EF4-FFF2-40B4-BE49-F238E27FC236}">
                <a16:creationId xmlns:a16="http://schemas.microsoft.com/office/drawing/2014/main" id="{D35FE4E2-DBCA-05B7-BEEE-E9A6D08389EE}"/>
              </a:ext>
            </a:extLst>
          </p:cNvPr>
          <p:cNvSpPr txBox="1"/>
          <p:nvPr/>
        </p:nvSpPr>
        <p:spPr>
          <a:xfrm>
            <a:off x="8670348" y="1610937"/>
            <a:ext cx="3483103" cy="523220"/>
          </a:xfrm>
          <a:prstGeom prst="rect">
            <a:avLst/>
          </a:prstGeom>
          <a:noFill/>
        </p:spPr>
        <p:txBody>
          <a:bodyPr wrap="square" rtlCol="0">
            <a:spAutoFit/>
          </a:bodyPr>
          <a:lstStyle/>
          <a:p>
            <a:r>
              <a:rPr lang="en-US" sz="2800" dirty="0"/>
              <a:t>Chromatin remodelers</a:t>
            </a:r>
          </a:p>
        </p:txBody>
      </p:sp>
      <p:sp>
        <p:nvSpPr>
          <p:cNvPr id="150" name="TextBox 149">
            <a:extLst>
              <a:ext uri="{FF2B5EF4-FFF2-40B4-BE49-F238E27FC236}">
                <a16:creationId xmlns:a16="http://schemas.microsoft.com/office/drawing/2014/main" id="{49473899-D083-3CC8-0329-301DA56DF4E5}"/>
              </a:ext>
            </a:extLst>
          </p:cNvPr>
          <p:cNvSpPr txBox="1"/>
          <p:nvPr/>
        </p:nvSpPr>
        <p:spPr>
          <a:xfrm>
            <a:off x="8344056" y="2117760"/>
            <a:ext cx="3153351" cy="523220"/>
          </a:xfrm>
          <a:prstGeom prst="rect">
            <a:avLst/>
          </a:prstGeom>
          <a:noFill/>
        </p:spPr>
        <p:txBody>
          <a:bodyPr wrap="square" rtlCol="0">
            <a:spAutoFit/>
          </a:bodyPr>
          <a:lstStyle/>
          <a:p>
            <a:r>
              <a:rPr lang="en-US" sz="2800" dirty="0"/>
              <a:t>mRNA degradation</a:t>
            </a:r>
          </a:p>
        </p:txBody>
      </p:sp>
      <p:sp>
        <p:nvSpPr>
          <p:cNvPr id="151" name="TextBox 150">
            <a:extLst>
              <a:ext uri="{FF2B5EF4-FFF2-40B4-BE49-F238E27FC236}">
                <a16:creationId xmlns:a16="http://schemas.microsoft.com/office/drawing/2014/main" id="{CBBFBDE2-2EC4-9FFF-2C30-01657FD931ED}"/>
              </a:ext>
            </a:extLst>
          </p:cNvPr>
          <p:cNvSpPr txBox="1"/>
          <p:nvPr/>
        </p:nvSpPr>
        <p:spPr>
          <a:xfrm>
            <a:off x="8377027" y="3070757"/>
            <a:ext cx="3153351" cy="523220"/>
          </a:xfrm>
          <a:prstGeom prst="rect">
            <a:avLst/>
          </a:prstGeom>
          <a:noFill/>
        </p:spPr>
        <p:txBody>
          <a:bodyPr wrap="square" rtlCol="0">
            <a:spAutoFit/>
          </a:bodyPr>
          <a:lstStyle/>
          <a:p>
            <a:r>
              <a:rPr lang="en-US" sz="2800" dirty="0"/>
              <a:t>miRNA</a:t>
            </a:r>
          </a:p>
        </p:txBody>
      </p:sp>
      <p:sp>
        <p:nvSpPr>
          <p:cNvPr id="152" name="TextBox 151">
            <a:extLst>
              <a:ext uri="{FF2B5EF4-FFF2-40B4-BE49-F238E27FC236}">
                <a16:creationId xmlns:a16="http://schemas.microsoft.com/office/drawing/2014/main" id="{DBE03A99-8517-76D1-A0E4-CE7DBADC7617}"/>
              </a:ext>
            </a:extLst>
          </p:cNvPr>
          <p:cNvSpPr txBox="1"/>
          <p:nvPr/>
        </p:nvSpPr>
        <p:spPr>
          <a:xfrm>
            <a:off x="7913513" y="3590743"/>
            <a:ext cx="3153351" cy="523220"/>
          </a:xfrm>
          <a:prstGeom prst="rect">
            <a:avLst/>
          </a:prstGeom>
          <a:noFill/>
        </p:spPr>
        <p:txBody>
          <a:bodyPr wrap="square" rtlCol="0">
            <a:spAutoFit/>
          </a:bodyPr>
          <a:lstStyle/>
          <a:p>
            <a:r>
              <a:rPr lang="en-US" sz="2800" dirty="0"/>
              <a:t>Chaperones</a:t>
            </a:r>
          </a:p>
        </p:txBody>
      </p:sp>
      <p:sp>
        <p:nvSpPr>
          <p:cNvPr id="153" name="TextBox 152">
            <a:extLst>
              <a:ext uri="{FF2B5EF4-FFF2-40B4-BE49-F238E27FC236}">
                <a16:creationId xmlns:a16="http://schemas.microsoft.com/office/drawing/2014/main" id="{EA4C9F5C-D9F7-BEBA-8543-8C10156FD69D}"/>
              </a:ext>
            </a:extLst>
          </p:cNvPr>
          <p:cNvSpPr txBox="1"/>
          <p:nvPr/>
        </p:nvSpPr>
        <p:spPr>
          <a:xfrm>
            <a:off x="8042353" y="4672013"/>
            <a:ext cx="4149647" cy="954107"/>
          </a:xfrm>
          <a:prstGeom prst="rect">
            <a:avLst/>
          </a:prstGeom>
          <a:noFill/>
        </p:spPr>
        <p:txBody>
          <a:bodyPr wrap="square" rtlCol="0">
            <a:spAutoFit/>
          </a:bodyPr>
          <a:lstStyle/>
          <a:p>
            <a:r>
              <a:rPr lang="en-US" sz="2800" dirty="0"/>
              <a:t>Post-translational modifications</a:t>
            </a:r>
          </a:p>
        </p:txBody>
      </p:sp>
      <p:sp>
        <p:nvSpPr>
          <p:cNvPr id="154" name="TextBox 153">
            <a:extLst>
              <a:ext uri="{FF2B5EF4-FFF2-40B4-BE49-F238E27FC236}">
                <a16:creationId xmlns:a16="http://schemas.microsoft.com/office/drawing/2014/main" id="{D859A058-F815-F07E-B31A-B12C5C44A465}"/>
              </a:ext>
            </a:extLst>
          </p:cNvPr>
          <p:cNvSpPr txBox="1"/>
          <p:nvPr/>
        </p:nvSpPr>
        <p:spPr>
          <a:xfrm>
            <a:off x="8042353" y="5836324"/>
            <a:ext cx="4149647" cy="523220"/>
          </a:xfrm>
          <a:prstGeom prst="rect">
            <a:avLst/>
          </a:prstGeom>
          <a:noFill/>
        </p:spPr>
        <p:txBody>
          <a:bodyPr wrap="square" rtlCol="0">
            <a:spAutoFit/>
          </a:bodyPr>
          <a:lstStyle/>
          <a:p>
            <a:r>
              <a:rPr lang="en-US" sz="2800" dirty="0"/>
              <a:t>Digestion</a:t>
            </a:r>
          </a:p>
        </p:txBody>
      </p:sp>
    </p:spTree>
    <p:extLst>
      <p:ext uri="{BB962C8B-B14F-4D97-AF65-F5344CB8AC3E}">
        <p14:creationId xmlns:p14="http://schemas.microsoft.com/office/powerpoint/2010/main" val="2756841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F5A50EA-4FBD-759B-A25E-30F288E89751}"/>
              </a:ext>
            </a:extLst>
          </p:cNvPr>
          <p:cNvPicPr>
            <a:picLocks noChangeAspect="1"/>
          </p:cNvPicPr>
          <p:nvPr/>
        </p:nvPicPr>
        <p:blipFill>
          <a:blip r:embed="rId2"/>
          <a:srcRect l="48438" t="46481" r="37187" b="34986"/>
          <a:stretch>
            <a:fillRect/>
          </a:stretch>
        </p:blipFill>
        <p:spPr>
          <a:xfrm>
            <a:off x="5250307" y="16047"/>
            <a:ext cx="1752600" cy="1270985"/>
          </a:xfrm>
          <a:prstGeom prst="rect">
            <a:avLst/>
          </a:prstGeom>
        </p:spPr>
      </p:pic>
      <p:pic>
        <p:nvPicPr>
          <p:cNvPr id="13" name="Picture 12">
            <a:extLst>
              <a:ext uri="{FF2B5EF4-FFF2-40B4-BE49-F238E27FC236}">
                <a16:creationId xmlns:a16="http://schemas.microsoft.com/office/drawing/2014/main" id="{D14D254D-588D-7C2A-6260-E03609F2A961}"/>
              </a:ext>
            </a:extLst>
          </p:cNvPr>
          <p:cNvPicPr>
            <a:picLocks noChangeAspect="1"/>
          </p:cNvPicPr>
          <p:nvPr/>
        </p:nvPicPr>
        <p:blipFill>
          <a:blip r:embed="rId3"/>
          <a:srcRect l="72292" t="38889" r="19271" b="31111"/>
          <a:stretch>
            <a:fillRect/>
          </a:stretch>
        </p:blipFill>
        <p:spPr>
          <a:xfrm>
            <a:off x="5873043" y="1806989"/>
            <a:ext cx="711200" cy="1422399"/>
          </a:xfrm>
          <a:prstGeom prst="rect">
            <a:avLst/>
          </a:prstGeom>
        </p:spPr>
      </p:pic>
      <p:sp>
        <p:nvSpPr>
          <p:cNvPr id="15" name="TextBox 14">
            <a:extLst>
              <a:ext uri="{FF2B5EF4-FFF2-40B4-BE49-F238E27FC236}">
                <a16:creationId xmlns:a16="http://schemas.microsoft.com/office/drawing/2014/main" id="{42FF9B68-1CDB-0F63-DF72-144C94823EE9}"/>
              </a:ext>
            </a:extLst>
          </p:cNvPr>
          <p:cNvSpPr txBox="1"/>
          <p:nvPr/>
        </p:nvSpPr>
        <p:spPr>
          <a:xfrm>
            <a:off x="5198528" y="3868865"/>
            <a:ext cx="2771430" cy="1477328"/>
          </a:xfrm>
          <a:prstGeom prst="rect">
            <a:avLst/>
          </a:prstGeom>
          <a:noFill/>
        </p:spPr>
        <p:txBody>
          <a:bodyPr wrap="square" rtlCol="0">
            <a:spAutoFit/>
          </a:bodyPr>
          <a:lstStyle/>
          <a:p>
            <a:r>
              <a:rPr lang="en-US" dirty="0">
                <a:latin typeface="Simplified Arabic Fixed" panose="020F0502020204030204" pitchFamily="49" charset="-78"/>
                <a:cs typeface="Simplified Arabic Fixed" panose="020F0502020204030204" pitchFamily="49" charset="-78"/>
              </a:rPr>
              <a:t>AAAUUCCUUGGAAGA...</a:t>
            </a:r>
          </a:p>
          <a:p>
            <a:r>
              <a:rPr lang="en-US" dirty="0">
                <a:latin typeface="Simplified Arabic Fixed" panose="020F0502020204030204" pitchFamily="49" charset="-78"/>
                <a:cs typeface="Simplified Arabic Fixed" panose="020F0502020204030204" pitchFamily="49" charset="-78"/>
              </a:rPr>
              <a:t>AAUACAGAUUCAUAG...</a:t>
            </a:r>
          </a:p>
          <a:p>
            <a:r>
              <a:rPr lang="en-US" dirty="0">
                <a:latin typeface="Simplified Arabic Fixed" panose="020F0502020204030204" pitchFamily="49" charset="-78"/>
                <a:cs typeface="Simplified Arabic Fixed" panose="020F0502020204030204" pitchFamily="49" charset="-78"/>
              </a:rPr>
              <a:t>AAUCGAUAUCGACUG...</a:t>
            </a:r>
          </a:p>
          <a:p>
            <a:r>
              <a:rPr lang="en-US" dirty="0">
                <a:latin typeface="Simplified Arabic Fixed" panose="020F0502020204030204" pitchFamily="49" charset="-78"/>
                <a:cs typeface="Simplified Arabic Fixed" panose="020F0502020204030204" pitchFamily="49" charset="-78"/>
              </a:rPr>
              <a:t>GAUAGUACGUACGAU...</a:t>
            </a:r>
          </a:p>
          <a:p>
            <a:r>
              <a:rPr lang="en-US" dirty="0">
                <a:latin typeface="Simplified Arabic Fixed" panose="020F0502020204030204" pitchFamily="49" charset="-78"/>
                <a:cs typeface="Simplified Arabic Fixed" panose="020F0502020204030204" pitchFamily="49" charset="-78"/>
              </a:rPr>
              <a:t>CUAGAUCUAGAUGUA...</a:t>
            </a:r>
          </a:p>
        </p:txBody>
      </p:sp>
      <p:sp>
        <p:nvSpPr>
          <p:cNvPr id="17" name="TextBox 16">
            <a:extLst>
              <a:ext uri="{FF2B5EF4-FFF2-40B4-BE49-F238E27FC236}">
                <a16:creationId xmlns:a16="http://schemas.microsoft.com/office/drawing/2014/main" id="{A0969AD3-BED0-A730-D2B9-D40C68027531}"/>
              </a:ext>
            </a:extLst>
          </p:cNvPr>
          <p:cNvSpPr txBox="1"/>
          <p:nvPr/>
        </p:nvSpPr>
        <p:spPr>
          <a:xfrm>
            <a:off x="5250307" y="5941872"/>
            <a:ext cx="3975099" cy="369332"/>
          </a:xfrm>
          <a:prstGeom prst="rect">
            <a:avLst/>
          </a:prstGeom>
          <a:noFill/>
        </p:spPr>
        <p:txBody>
          <a:bodyPr wrap="square" rtlCol="0">
            <a:spAutoFit/>
          </a:bodyPr>
          <a:lstStyle/>
          <a:p>
            <a:r>
              <a:rPr lang="en-US" dirty="0">
                <a:latin typeface="Simplified Arabic Fixed" panose="020F0502020204030204" pitchFamily="49" charset="-78"/>
                <a:cs typeface="Simplified Arabic Fixed" panose="020F0502020204030204" pitchFamily="49" charset="-78"/>
              </a:rPr>
              <a:t>MYCN, MAPK, ERK, KRAS...</a:t>
            </a:r>
          </a:p>
        </p:txBody>
      </p:sp>
      <p:sp>
        <p:nvSpPr>
          <p:cNvPr id="18" name="TextBox 17">
            <a:extLst>
              <a:ext uri="{FF2B5EF4-FFF2-40B4-BE49-F238E27FC236}">
                <a16:creationId xmlns:a16="http://schemas.microsoft.com/office/drawing/2014/main" id="{9C562189-1B76-258A-985E-1A504DEBDB3E}"/>
              </a:ext>
            </a:extLst>
          </p:cNvPr>
          <p:cNvSpPr txBox="1"/>
          <p:nvPr/>
        </p:nvSpPr>
        <p:spPr>
          <a:xfrm>
            <a:off x="4302378" y="389929"/>
            <a:ext cx="947929" cy="523220"/>
          </a:xfrm>
          <a:prstGeom prst="rect">
            <a:avLst/>
          </a:prstGeom>
          <a:noFill/>
        </p:spPr>
        <p:txBody>
          <a:bodyPr wrap="square" rtlCol="0">
            <a:spAutoFit/>
          </a:bodyPr>
          <a:lstStyle/>
          <a:p>
            <a:pPr algn="r"/>
            <a:r>
              <a:rPr lang="en-US" sz="2800" dirty="0"/>
              <a:t>Cells</a:t>
            </a:r>
          </a:p>
        </p:txBody>
      </p:sp>
      <p:sp>
        <p:nvSpPr>
          <p:cNvPr id="19" name="TextBox 18">
            <a:extLst>
              <a:ext uri="{FF2B5EF4-FFF2-40B4-BE49-F238E27FC236}">
                <a16:creationId xmlns:a16="http://schemas.microsoft.com/office/drawing/2014/main" id="{F3EA945C-3CBA-CBEC-05E0-4217F5C584C6}"/>
              </a:ext>
            </a:extLst>
          </p:cNvPr>
          <p:cNvSpPr txBox="1"/>
          <p:nvPr/>
        </p:nvSpPr>
        <p:spPr>
          <a:xfrm>
            <a:off x="2814192" y="2256578"/>
            <a:ext cx="2436115" cy="523220"/>
          </a:xfrm>
          <a:prstGeom prst="rect">
            <a:avLst/>
          </a:prstGeom>
          <a:noFill/>
        </p:spPr>
        <p:txBody>
          <a:bodyPr wrap="square" rtlCol="0">
            <a:spAutoFit/>
          </a:bodyPr>
          <a:lstStyle/>
          <a:p>
            <a:pPr algn="r"/>
            <a:r>
              <a:rPr lang="en-US" sz="2800" dirty="0"/>
              <a:t>Transcripts</a:t>
            </a:r>
          </a:p>
        </p:txBody>
      </p:sp>
      <p:sp>
        <p:nvSpPr>
          <p:cNvPr id="20" name="TextBox 19">
            <a:extLst>
              <a:ext uri="{FF2B5EF4-FFF2-40B4-BE49-F238E27FC236}">
                <a16:creationId xmlns:a16="http://schemas.microsoft.com/office/drawing/2014/main" id="{1B464E65-C931-1577-0624-94A4C0079DB8}"/>
              </a:ext>
            </a:extLst>
          </p:cNvPr>
          <p:cNvSpPr txBox="1"/>
          <p:nvPr/>
        </p:nvSpPr>
        <p:spPr>
          <a:xfrm>
            <a:off x="2814192" y="4345919"/>
            <a:ext cx="2436115" cy="523220"/>
          </a:xfrm>
          <a:prstGeom prst="rect">
            <a:avLst/>
          </a:prstGeom>
          <a:noFill/>
        </p:spPr>
        <p:txBody>
          <a:bodyPr wrap="square" rtlCol="0">
            <a:spAutoFit/>
          </a:bodyPr>
          <a:lstStyle/>
          <a:p>
            <a:pPr algn="r"/>
            <a:r>
              <a:rPr lang="en-US" sz="2800" dirty="0"/>
              <a:t>Sequences</a:t>
            </a:r>
          </a:p>
        </p:txBody>
      </p:sp>
      <p:sp>
        <p:nvSpPr>
          <p:cNvPr id="21" name="TextBox 20">
            <a:extLst>
              <a:ext uri="{FF2B5EF4-FFF2-40B4-BE49-F238E27FC236}">
                <a16:creationId xmlns:a16="http://schemas.microsoft.com/office/drawing/2014/main" id="{A7F64B1B-5EA8-ACC1-97D3-CF9E24AED13C}"/>
              </a:ext>
            </a:extLst>
          </p:cNvPr>
          <p:cNvSpPr txBox="1"/>
          <p:nvPr/>
        </p:nvSpPr>
        <p:spPr>
          <a:xfrm>
            <a:off x="2814191" y="5823247"/>
            <a:ext cx="2436115" cy="523220"/>
          </a:xfrm>
          <a:prstGeom prst="rect">
            <a:avLst/>
          </a:prstGeom>
          <a:noFill/>
        </p:spPr>
        <p:txBody>
          <a:bodyPr wrap="square" rtlCol="0">
            <a:spAutoFit/>
          </a:bodyPr>
          <a:lstStyle/>
          <a:p>
            <a:pPr algn="r"/>
            <a:r>
              <a:rPr lang="en-US" sz="2800" dirty="0"/>
              <a:t>Genes</a:t>
            </a:r>
          </a:p>
        </p:txBody>
      </p:sp>
      <p:sp>
        <p:nvSpPr>
          <p:cNvPr id="22" name="TextBox 21">
            <a:extLst>
              <a:ext uri="{FF2B5EF4-FFF2-40B4-BE49-F238E27FC236}">
                <a16:creationId xmlns:a16="http://schemas.microsoft.com/office/drawing/2014/main" id="{297476B4-3B6F-A699-7382-CA9325CE1C6A}"/>
              </a:ext>
            </a:extLst>
          </p:cNvPr>
          <p:cNvSpPr txBox="1"/>
          <p:nvPr/>
        </p:nvSpPr>
        <p:spPr>
          <a:xfrm>
            <a:off x="6391620" y="1265607"/>
            <a:ext cx="4219386" cy="523220"/>
          </a:xfrm>
          <a:prstGeom prst="rect">
            <a:avLst/>
          </a:prstGeom>
          <a:noFill/>
        </p:spPr>
        <p:txBody>
          <a:bodyPr wrap="square" rtlCol="0">
            <a:spAutoFit/>
          </a:bodyPr>
          <a:lstStyle/>
          <a:p>
            <a:r>
              <a:rPr lang="en-US" sz="2800" dirty="0"/>
              <a:t>RNA isolation</a:t>
            </a:r>
          </a:p>
        </p:txBody>
      </p:sp>
      <p:sp>
        <p:nvSpPr>
          <p:cNvPr id="23" name="TextBox 22">
            <a:extLst>
              <a:ext uri="{FF2B5EF4-FFF2-40B4-BE49-F238E27FC236}">
                <a16:creationId xmlns:a16="http://schemas.microsoft.com/office/drawing/2014/main" id="{EEACCC64-8BE1-F547-B2D6-663325BB6DEE}"/>
              </a:ext>
            </a:extLst>
          </p:cNvPr>
          <p:cNvSpPr txBox="1"/>
          <p:nvPr/>
        </p:nvSpPr>
        <p:spPr>
          <a:xfrm>
            <a:off x="6391620" y="3207963"/>
            <a:ext cx="2008016" cy="523220"/>
          </a:xfrm>
          <a:prstGeom prst="rect">
            <a:avLst/>
          </a:prstGeom>
          <a:noFill/>
        </p:spPr>
        <p:txBody>
          <a:bodyPr wrap="square" rtlCol="0">
            <a:spAutoFit/>
          </a:bodyPr>
          <a:lstStyle/>
          <a:p>
            <a:r>
              <a:rPr lang="en-US" sz="2800" dirty="0"/>
              <a:t>Sequencing</a:t>
            </a:r>
          </a:p>
        </p:txBody>
      </p:sp>
      <p:sp>
        <p:nvSpPr>
          <p:cNvPr id="24" name="TextBox 23">
            <a:extLst>
              <a:ext uri="{FF2B5EF4-FFF2-40B4-BE49-F238E27FC236}">
                <a16:creationId xmlns:a16="http://schemas.microsoft.com/office/drawing/2014/main" id="{FC7047FB-5884-3626-67C8-E9781E1F3077}"/>
              </a:ext>
            </a:extLst>
          </p:cNvPr>
          <p:cNvSpPr txBox="1"/>
          <p:nvPr/>
        </p:nvSpPr>
        <p:spPr>
          <a:xfrm>
            <a:off x="6391620" y="5300027"/>
            <a:ext cx="2008016" cy="523220"/>
          </a:xfrm>
          <a:prstGeom prst="rect">
            <a:avLst/>
          </a:prstGeom>
          <a:noFill/>
        </p:spPr>
        <p:txBody>
          <a:bodyPr wrap="square" rtlCol="0">
            <a:spAutoFit/>
          </a:bodyPr>
          <a:lstStyle/>
          <a:p>
            <a:r>
              <a:rPr lang="en-US" sz="2800" dirty="0"/>
              <a:t>Alignment</a:t>
            </a:r>
          </a:p>
        </p:txBody>
      </p:sp>
      <p:cxnSp>
        <p:nvCxnSpPr>
          <p:cNvPr id="25" name="Straight Arrow Connector 24">
            <a:extLst>
              <a:ext uri="{FF2B5EF4-FFF2-40B4-BE49-F238E27FC236}">
                <a16:creationId xmlns:a16="http://schemas.microsoft.com/office/drawing/2014/main" id="{17D6407A-2B7E-5DC7-36D4-ABC8030ED6F4}"/>
              </a:ext>
            </a:extLst>
          </p:cNvPr>
          <p:cNvCxnSpPr>
            <a:cxnSpLocks/>
          </p:cNvCxnSpPr>
          <p:nvPr/>
        </p:nvCxnSpPr>
        <p:spPr>
          <a:xfrm>
            <a:off x="6191406" y="1305194"/>
            <a:ext cx="0" cy="542345"/>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6AAA77D6-A056-C66B-D396-61DB5D0F69A6}"/>
              </a:ext>
            </a:extLst>
          </p:cNvPr>
          <p:cNvCxnSpPr>
            <a:cxnSpLocks/>
          </p:cNvCxnSpPr>
          <p:nvPr/>
        </p:nvCxnSpPr>
        <p:spPr>
          <a:xfrm>
            <a:off x="6185212" y="3229388"/>
            <a:ext cx="0" cy="542345"/>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9C4212BA-0613-444F-563F-137AA3C0B327}"/>
              </a:ext>
            </a:extLst>
          </p:cNvPr>
          <p:cNvCxnSpPr>
            <a:cxnSpLocks/>
          </p:cNvCxnSpPr>
          <p:nvPr/>
        </p:nvCxnSpPr>
        <p:spPr>
          <a:xfrm>
            <a:off x="6228643" y="5346193"/>
            <a:ext cx="0" cy="542345"/>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90403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FCFCE82-A63F-420C-ED19-CAA6A16DDE67}"/>
                  </a:ext>
                </a:extLst>
              </p:cNvPr>
              <p:cNvSpPr>
                <a:spLocks noGrp="1"/>
              </p:cNvSpPr>
              <p:nvPr>
                <p:ph sz="half" idx="1"/>
              </p:nvPr>
            </p:nvSpPr>
            <p:spPr/>
            <p:txBody>
              <a:bodyPr>
                <a:noAutofit/>
              </a:bodyPr>
              <a:lstStyle/>
              <a:p>
                <a:r>
                  <a:rPr lang="en-US" dirty="0"/>
                  <a:t>Gene Expression Omnibus</a:t>
                </a:r>
              </a:p>
              <a:p>
                <a:pPr lvl="1"/>
                <a:r>
                  <a:rPr lang="en-US" sz="2000" dirty="0">
                    <a:hlinkClick r:id="rId2"/>
                  </a:rPr>
                  <a:t>https://www.ncbi.nlm.nih.gov/sites/GDSbrowser</a:t>
                </a:r>
                <a:endParaRPr lang="en-US" sz="2000" dirty="0"/>
              </a:p>
              <a:p>
                <a:r>
                  <a:rPr lang="en-US" dirty="0"/>
                  <a:t>Very low sample sizes</a:t>
                </a:r>
              </a:p>
              <a:p>
                <a:pPr lvl="1"/>
                <a14:m>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1</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2</m:t>
                        </m:r>
                      </m:sup>
                    </m:sSup>
                  </m:oMath>
                </a14:m>
                <a:endParaRPr lang="en-US" dirty="0"/>
              </a:p>
              <a:p>
                <a:pPr lvl="1"/>
                <a:r>
                  <a:rPr lang="en-US" dirty="0"/>
                  <a:t>Especially for humans</a:t>
                </a:r>
              </a:p>
              <a:p>
                <a:r>
                  <a:rPr lang="en-US" dirty="0"/>
                  <a:t>Very high dimensionality</a:t>
                </a:r>
              </a:p>
              <a:p>
                <a:pPr lvl="1"/>
                <a14:m>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4</m:t>
                        </m:r>
                      </m:sup>
                    </m:sSup>
                  </m:oMath>
                </a14:m>
                <a:endParaRPr lang="en-US" dirty="0"/>
              </a:p>
            </p:txBody>
          </p:sp>
        </mc:Choice>
        <mc:Fallback>
          <p:sp>
            <p:nvSpPr>
              <p:cNvPr id="3" name="Content Placeholder 2">
                <a:extLst>
                  <a:ext uri="{FF2B5EF4-FFF2-40B4-BE49-F238E27FC236}">
                    <a16:creationId xmlns:a16="http://schemas.microsoft.com/office/drawing/2014/main" id="{9FCFCE82-A63F-420C-ED19-CAA6A16DDE67}"/>
                  </a:ext>
                </a:extLst>
              </p:cNvPr>
              <p:cNvSpPr>
                <a:spLocks noGrp="1" noRot="1" noChangeAspect="1" noMove="1" noResize="1" noEditPoints="1" noAdjustHandles="1" noChangeArrowheads="1" noChangeShapeType="1" noTextEdit="1"/>
              </p:cNvSpPr>
              <p:nvPr>
                <p:ph sz="half" idx="1"/>
              </p:nvPr>
            </p:nvSpPr>
            <p:spPr>
              <a:blipFill>
                <a:blip r:embed="rId3"/>
                <a:stretch>
                  <a:fillRect l="-2917" t="-3788"/>
                </a:stretch>
              </a:blipFill>
            </p:spPr>
            <p:txBody>
              <a:bodyPr/>
              <a:lstStyle/>
              <a:p>
                <a:r>
                  <a:rPr lang="en-US">
                    <a:noFill/>
                  </a:rPr>
                  <a:t> </a:t>
                </a:r>
              </a:p>
            </p:txBody>
          </p:sp>
        </mc:Fallback>
      </mc:AlternateContent>
      <p:sp>
        <p:nvSpPr>
          <p:cNvPr id="4" name="Content Placeholder 3">
            <a:extLst>
              <a:ext uri="{FF2B5EF4-FFF2-40B4-BE49-F238E27FC236}">
                <a16:creationId xmlns:a16="http://schemas.microsoft.com/office/drawing/2014/main" id="{AE338AA4-7B02-FD2B-08A4-6FB1B3E75253}"/>
              </a:ext>
            </a:extLst>
          </p:cNvPr>
          <p:cNvSpPr>
            <a:spLocks noGrp="1"/>
          </p:cNvSpPr>
          <p:nvPr>
            <p:ph sz="half" idx="2"/>
          </p:nvPr>
        </p:nvSpPr>
        <p:spPr/>
        <p:txBody>
          <a:bodyPr/>
          <a:lstStyle/>
          <a:p>
            <a:r>
              <a:rPr lang="en-US" dirty="0"/>
              <a:t>Not coordinated</a:t>
            </a:r>
          </a:p>
          <a:p>
            <a:pPr lvl="1"/>
            <a:r>
              <a:rPr lang="en-US" dirty="0"/>
              <a:t>Inconsistent gene sets</a:t>
            </a:r>
          </a:p>
          <a:p>
            <a:pPr lvl="1"/>
            <a:r>
              <a:rPr lang="en-US" dirty="0"/>
              <a:t>Variations in methodology</a:t>
            </a:r>
          </a:p>
          <a:p>
            <a:pPr lvl="1"/>
            <a:r>
              <a:rPr lang="en-US" dirty="0"/>
              <a:t>Different normalization</a:t>
            </a:r>
            <a:endParaRPr lang="en-US" b="1" dirty="0"/>
          </a:p>
          <a:p>
            <a:r>
              <a:rPr lang="en-US" b="1" dirty="0"/>
              <a:t>Challenging to learn on</a:t>
            </a:r>
          </a:p>
          <a:p>
            <a:pPr lvl="1"/>
            <a:r>
              <a:rPr lang="en-US" dirty="0"/>
              <a:t>Lots of data out there</a:t>
            </a:r>
          </a:p>
          <a:p>
            <a:pPr lvl="1"/>
            <a:r>
              <a:rPr lang="en-US" dirty="0"/>
              <a:t>Untapped potential</a:t>
            </a:r>
          </a:p>
        </p:txBody>
      </p:sp>
      <p:sp>
        <p:nvSpPr>
          <p:cNvPr id="2" name="Title 1">
            <a:extLst>
              <a:ext uri="{FF2B5EF4-FFF2-40B4-BE49-F238E27FC236}">
                <a16:creationId xmlns:a16="http://schemas.microsoft.com/office/drawing/2014/main" id="{1EA4992B-F617-8C23-9EC0-0A682584F4B2}"/>
              </a:ext>
            </a:extLst>
          </p:cNvPr>
          <p:cNvSpPr>
            <a:spLocks noGrp="1"/>
          </p:cNvSpPr>
          <p:nvPr>
            <p:ph type="title"/>
          </p:nvPr>
        </p:nvSpPr>
        <p:spPr/>
        <p:txBody>
          <a:bodyPr/>
          <a:lstStyle/>
          <a:p>
            <a:r>
              <a:rPr lang="en-US" dirty="0"/>
              <a:t>RNA-seq Data</a:t>
            </a:r>
          </a:p>
        </p:txBody>
      </p:sp>
    </p:spTree>
    <p:extLst>
      <p:ext uri="{BB962C8B-B14F-4D97-AF65-F5344CB8AC3E}">
        <p14:creationId xmlns:p14="http://schemas.microsoft.com/office/powerpoint/2010/main" val="3552482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3C133-05CA-1B0D-A0A7-A809DFA02803}"/>
              </a:ext>
            </a:extLst>
          </p:cNvPr>
          <p:cNvSpPr>
            <a:spLocks noGrp="1"/>
          </p:cNvSpPr>
          <p:nvPr>
            <p:ph type="title"/>
          </p:nvPr>
        </p:nvSpPr>
        <p:spPr/>
        <p:txBody>
          <a:bodyPr/>
          <a:lstStyle/>
          <a:p>
            <a:r>
              <a:rPr lang="en-US" dirty="0"/>
              <a:t>Pretrained Models?</a:t>
            </a:r>
          </a:p>
        </p:txBody>
      </p:sp>
      <p:sp>
        <p:nvSpPr>
          <p:cNvPr id="3" name="Content Placeholder 2">
            <a:extLst>
              <a:ext uri="{FF2B5EF4-FFF2-40B4-BE49-F238E27FC236}">
                <a16:creationId xmlns:a16="http://schemas.microsoft.com/office/drawing/2014/main" id="{4EA0F0EE-9A13-4680-8CB7-D5F1A6825988}"/>
              </a:ext>
            </a:extLst>
          </p:cNvPr>
          <p:cNvSpPr>
            <a:spLocks noGrp="1"/>
          </p:cNvSpPr>
          <p:nvPr>
            <p:ph idx="1"/>
          </p:nvPr>
        </p:nvSpPr>
        <p:spPr/>
        <p:txBody>
          <a:bodyPr/>
          <a:lstStyle/>
          <a:p>
            <a:r>
              <a:rPr lang="en-US" dirty="0"/>
              <a:t>No suitable pretrained models exist for RNA-seq data</a:t>
            </a:r>
          </a:p>
          <a:p>
            <a:pPr lvl="1"/>
            <a:r>
              <a:rPr lang="en-US" dirty="0"/>
              <a:t>Most pretrained models utilize </a:t>
            </a:r>
            <a:r>
              <a:rPr lang="en-US" dirty="0" err="1"/>
              <a:t>scRNA</a:t>
            </a:r>
            <a:r>
              <a:rPr lang="en-US" dirty="0"/>
              <a:t>-seq data</a:t>
            </a:r>
          </a:p>
          <a:p>
            <a:pPr lvl="1"/>
            <a:r>
              <a:rPr lang="en-US" dirty="0"/>
              <a:t>The few that use RNA-seq data are unsuitable</a:t>
            </a:r>
          </a:p>
          <a:p>
            <a:r>
              <a:rPr lang="en-US" dirty="0"/>
              <a:t>Modern deep learning methods require vast quantities of data</a:t>
            </a:r>
          </a:p>
          <a:p>
            <a:pPr lvl="1"/>
            <a:r>
              <a:rPr lang="en-US" dirty="0"/>
              <a:t>Go to the single-cell level</a:t>
            </a:r>
          </a:p>
          <a:p>
            <a:pPr lvl="1"/>
            <a:r>
              <a:rPr lang="en-US" dirty="0"/>
              <a:t>Utilize massive, coordinated data collection effort</a:t>
            </a:r>
          </a:p>
          <a:p>
            <a:r>
              <a:rPr lang="en-US" b="1" dirty="0"/>
              <a:t>Older, simpler models are still commonplace</a:t>
            </a:r>
          </a:p>
        </p:txBody>
      </p:sp>
    </p:spTree>
    <p:extLst>
      <p:ext uri="{BB962C8B-B14F-4D97-AF65-F5344CB8AC3E}">
        <p14:creationId xmlns:p14="http://schemas.microsoft.com/office/powerpoint/2010/main" val="2326178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D00C6F-DBAA-239C-91C5-833ECF2247E9}"/>
              </a:ext>
            </a:extLst>
          </p:cNvPr>
          <p:cNvSpPr>
            <a:spLocks noGrp="1"/>
          </p:cNvSpPr>
          <p:nvPr>
            <p:ph sz="half" idx="1"/>
          </p:nvPr>
        </p:nvSpPr>
        <p:spPr/>
        <p:txBody>
          <a:bodyPr>
            <a:noAutofit/>
          </a:bodyPr>
          <a:lstStyle/>
          <a:p>
            <a:r>
              <a:rPr lang="en-US" dirty="0"/>
              <a:t>4 dimensionality reductions :</a:t>
            </a:r>
          </a:p>
          <a:p>
            <a:pPr lvl="1"/>
            <a:r>
              <a:rPr lang="en-US" i="1" dirty="0"/>
              <a:t>a priori</a:t>
            </a:r>
            <a:r>
              <a:rPr lang="en-US" dirty="0"/>
              <a:t> aggregation</a:t>
            </a:r>
          </a:p>
          <a:p>
            <a:pPr lvl="1"/>
            <a:r>
              <a:rPr lang="en-US" dirty="0"/>
              <a:t>PCA</a:t>
            </a:r>
          </a:p>
          <a:p>
            <a:pPr lvl="1"/>
            <a:r>
              <a:rPr lang="en-US" dirty="0"/>
              <a:t>Kernelized PCA (</a:t>
            </a:r>
            <a:r>
              <a:rPr lang="en-US" dirty="0" err="1"/>
              <a:t>kPCA</a:t>
            </a:r>
            <a:r>
              <a:rPr lang="en-US" dirty="0"/>
              <a:t>)</a:t>
            </a:r>
          </a:p>
          <a:p>
            <a:pPr lvl="1"/>
            <a:r>
              <a:rPr lang="en-US" dirty="0"/>
              <a:t>Nonnegative matrix factorization</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865746B5-4245-A072-A4CB-C497AD71BF9B}"/>
                  </a:ext>
                </a:extLst>
              </p:cNvPr>
              <p:cNvSpPr>
                <a:spLocks noGrp="1"/>
              </p:cNvSpPr>
              <p:nvPr>
                <p:ph sz="half" idx="2"/>
              </p:nvPr>
            </p:nvSpPr>
            <p:spPr/>
            <p:txBody>
              <a:bodyPr/>
              <a:lstStyle/>
              <a:p>
                <a:r>
                  <a:rPr lang="en-US" dirty="0"/>
                  <a:t>5 machine learning models:</a:t>
                </a:r>
              </a:p>
              <a:p>
                <a:pPr lvl="1"/>
                <a:r>
                  <a:rPr lang="en-US" dirty="0"/>
                  <a:t>Decision Tree (DT)</a:t>
                </a:r>
              </a:p>
              <a:p>
                <a:pPr lvl="1"/>
                <a14:m>
                  <m:oMath xmlns:m="http://schemas.openxmlformats.org/officeDocument/2006/math">
                    <m:r>
                      <a:rPr lang="en-US" i="1">
                        <a:latin typeface="Cambria Math" panose="02040503050406030204" pitchFamily="18" charset="0"/>
                      </a:rPr>
                      <m:t>𝑘</m:t>
                    </m:r>
                  </m:oMath>
                </a14:m>
                <a:r>
                  <a:rPr lang="en-US" dirty="0"/>
                  <a:t>-Nearest Neighbors (</a:t>
                </a:r>
                <a14:m>
                  <m:oMath xmlns:m="http://schemas.openxmlformats.org/officeDocument/2006/math">
                    <m:r>
                      <a:rPr lang="en-US" i="1">
                        <a:latin typeface="Cambria Math" panose="02040503050406030204" pitchFamily="18" charset="0"/>
                      </a:rPr>
                      <m:t>𝑘</m:t>
                    </m:r>
                  </m:oMath>
                </a14:m>
                <a:r>
                  <a:rPr lang="en-US" dirty="0"/>
                  <a:t>-NN)</a:t>
                </a:r>
              </a:p>
              <a:p>
                <a:pPr lvl="1"/>
                <a:r>
                  <a:rPr lang="en-US" dirty="0"/>
                  <a:t>Naïve Bayes (NB)</a:t>
                </a:r>
              </a:p>
              <a:p>
                <a:pPr lvl="1"/>
                <a:r>
                  <a:rPr lang="en-US" dirty="0"/>
                  <a:t>Random Forest (RF)</a:t>
                </a:r>
              </a:p>
              <a:p>
                <a:pPr lvl="1"/>
                <a:r>
                  <a:rPr lang="en-US" dirty="0"/>
                  <a:t>Support Vector Machine (SVM)</a:t>
                </a:r>
              </a:p>
            </p:txBody>
          </p:sp>
        </mc:Choice>
        <mc:Fallback>
          <p:sp>
            <p:nvSpPr>
              <p:cNvPr id="4" name="Content Placeholder 3">
                <a:extLst>
                  <a:ext uri="{FF2B5EF4-FFF2-40B4-BE49-F238E27FC236}">
                    <a16:creationId xmlns:a16="http://schemas.microsoft.com/office/drawing/2014/main" id="{865746B5-4245-A072-A4CB-C497AD71BF9B}"/>
                  </a:ext>
                </a:extLst>
              </p:cNvPr>
              <p:cNvSpPr>
                <a:spLocks noGrp="1" noRot="1" noChangeAspect="1" noMove="1" noResize="1" noEditPoints="1" noAdjustHandles="1" noChangeArrowheads="1" noChangeShapeType="1" noTextEdit="1"/>
              </p:cNvSpPr>
              <p:nvPr>
                <p:ph sz="half" idx="2"/>
              </p:nvPr>
            </p:nvSpPr>
            <p:spPr>
              <a:blipFill>
                <a:blip r:embed="rId2"/>
                <a:stretch>
                  <a:fillRect l="-2917" t="-3788"/>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E539A6C1-B9B3-E64F-CA8E-9FBC67B6506F}"/>
              </a:ext>
            </a:extLst>
          </p:cNvPr>
          <p:cNvSpPr>
            <a:spLocks noGrp="1"/>
          </p:cNvSpPr>
          <p:nvPr>
            <p:ph type="title"/>
          </p:nvPr>
        </p:nvSpPr>
        <p:spPr/>
        <p:txBody>
          <a:bodyPr/>
          <a:lstStyle/>
          <a:p>
            <a:r>
              <a:rPr lang="en-US" dirty="0"/>
              <a:t>Survey of Dimensionality Reduction</a:t>
            </a:r>
          </a:p>
        </p:txBody>
      </p:sp>
    </p:spTree>
    <p:extLst>
      <p:ext uri="{BB962C8B-B14F-4D97-AF65-F5344CB8AC3E}">
        <p14:creationId xmlns:p14="http://schemas.microsoft.com/office/powerpoint/2010/main" val="984556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07BFB6-E210-D2BF-E688-127565948309}"/>
              </a:ext>
            </a:extLst>
          </p:cNvPr>
          <p:cNvSpPr>
            <a:spLocks noGrp="1"/>
          </p:cNvSpPr>
          <p:nvPr>
            <p:ph type="title"/>
          </p:nvPr>
        </p:nvSpPr>
        <p:spPr/>
        <p:txBody>
          <a:bodyPr/>
          <a:lstStyle/>
          <a:p>
            <a:r>
              <a:rPr lang="en-US" i="1" dirty="0"/>
              <a:t>a priori</a:t>
            </a:r>
            <a:r>
              <a:rPr lang="en-US" dirty="0"/>
              <a:t> Aggregation</a:t>
            </a:r>
            <a:endParaRPr lang="en-US" i="1" dirty="0"/>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50E34A1B-27BA-C934-8A46-8E124071EE4A}"/>
                  </a:ext>
                </a:extLst>
              </p:cNvPr>
              <p:cNvSpPr>
                <a:spLocks noGrp="1"/>
              </p:cNvSpPr>
              <p:nvPr>
                <p:ph idx="1"/>
              </p:nvPr>
            </p:nvSpPr>
            <p:spPr/>
            <p:txBody>
              <a:bodyPr/>
              <a:lstStyle/>
              <a:p>
                <a:r>
                  <a:rPr lang="en-US" dirty="0"/>
                  <a:t>Genes are assigned categories and annotations</a:t>
                </a:r>
              </a:p>
              <a:p>
                <a:pPr lvl="1"/>
                <a:r>
                  <a:rPr lang="en-US" dirty="0"/>
                  <a:t>Gene Ontology (GO) categorization [4,5]</a:t>
                </a:r>
              </a:p>
              <a:p>
                <a:pPr lvl="1"/>
                <a:r>
                  <a:rPr lang="en-US" dirty="0"/>
                  <a:t>Component, function, and process</a:t>
                </a:r>
              </a:p>
              <a:p>
                <a:r>
                  <a:rPr lang="en-US" dirty="0"/>
                  <a:t>Dimensionality reduction was done by taking the mean</a:t>
                </a:r>
              </a:p>
              <a:p>
                <a:pPr lvl="1"/>
                <a:r>
                  <a:rPr lang="en-US" dirty="0"/>
                  <a:t>Features of reduced dataset correspond to gene groups</a:t>
                </a:r>
              </a:p>
              <a:p>
                <a:pPr lvl="1"/>
                <a:r>
                  <a:rPr lang="en-US" dirty="0"/>
                  <a:t>Reduced dimension from </a:t>
                </a:r>
                <a14:m>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4</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3</m:t>
                        </m:r>
                      </m:sup>
                    </m:sSup>
                  </m:oMath>
                </a14:m>
                <a:endParaRPr lang="en-US" dirty="0"/>
              </a:p>
              <a:p>
                <a:r>
                  <a:rPr lang="en-US" dirty="0"/>
                  <a:t>Retains biological context</a:t>
                </a:r>
              </a:p>
            </p:txBody>
          </p:sp>
        </mc:Choice>
        <mc:Fallback>
          <p:sp>
            <p:nvSpPr>
              <p:cNvPr id="5" name="Content Placeholder 4">
                <a:extLst>
                  <a:ext uri="{FF2B5EF4-FFF2-40B4-BE49-F238E27FC236}">
                    <a16:creationId xmlns:a16="http://schemas.microsoft.com/office/drawing/2014/main" id="{50E34A1B-27BA-C934-8A46-8E124071EE4A}"/>
                  </a:ext>
                </a:extLst>
              </p:cNvPr>
              <p:cNvSpPr>
                <a:spLocks noGrp="1" noRot="1" noChangeAspect="1" noMove="1" noResize="1" noEditPoints="1" noAdjustHandles="1" noChangeArrowheads="1" noChangeShapeType="1" noTextEdit="1"/>
              </p:cNvSpPr>
              <p:nvPr>
                <p:ph idx="1"/>
              </p:nvPr>
            </p:nvSpPr>
            <p:spPr>
              <a:blipFill>
                <a:blip r:embed="rId2"/>
                <a:stretch>
                  <a:fillRect l="-1436" t="-3788" b="-5000"/>
                </a:stretch>
              </a:blipFill>
            </p:spPr>
            <p:txBody>
              <a:bodyPr/>
              <a:lstStyle/>
              <a:p>
                <a:r>
                  <a:rPr lang="en-US">
                    <a:noFill/>
                  </a:rPr>
                  <a:t> </a:t>
                </a:r>
              </a:p>
            </p:txBody>
          </p:sp>
        </mc:Fallback>
      </mc:AlternateContent>
    </p:spTree>
    <p:extLst>
      <p:ext uri="{BB962C8B-B14F-4D97-AF65-F5344CB8AC3E}">
        <p14:creationId xmlns:p14="http://schemas.microsoft.com/office/powerpoint/2010/main" val="2445623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85489-370B-4946-3B2E-9E730BA6510F}"/>
              </a:ext>
            </a:extLst>
          </p:cNvPr>
          <p:cNvSpPr>
            <a:spLocks noGrp="1"/>
          </p:cNvSpPr>
          <p:nvPr>
            <p:ph type="title"/>
          </p:nvPr>
        </p:nvSpPr>
        <p:spPr/>
        <p:txBody>
          <a:bodyPr/>
          <a:lstStyle/>
          <a:p>
            <a:r>
              <a:rPr lang="en-US" dirty="0"/>
              <a:t>PCA, </a:t>
            </a:r>
            <a:r>
              <a:rPr lang="en-US" dirty="0" err="1"/>
              <a:t>kPCA</a:t>
            </a:r>
            <a:r>
              <a:rPr lang="en-US" dirty="0"/>
              <a:t>, and NMF</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E8EBE34-4C15-6891-2930-1617C6D2447F}"/>
                  </a:ext>
                </a:extLst>
              </p:cNvPr>
              <p:cNvSpPr>
                <a:spLocks noGrp="1"/>
              </p:cNvSpPr>
              <p:nvPr>
                <p:ph idx="1"/>
              </p:nvPr>
            </p:nvSpPr>
            <p:spPr/>
            <p:txBody>
              <a:bodyPr/>
              <a:lstStyle/>
              <a:p>
                <a:r>
                  <a:rPr lang="en-US" dirty="0"/>
                  <a:t>Reduce dimension to </a:t>
                </a:r>
                <a14:m>
                  <m:oMath xmlns:m="http://schemas.openxmlformats.org/officeDocument/2006/math">
                    <m:r>
                      <a:rPr lang="en-US" b="0" i="1" smtClean="0">
                        <a:latin typeface="Cambria Math" panose="02040503050406030204" pitchFamily="18" charset="0"/>
                      </a:rPr>
                      <m:t>𝑑</m:t>
                    </m:r>
                    <m:r>
                      <a:rPr lang="en-US" b="0" i="1" smtClean="0">
                        <a:latin typeface="Cambria Math" panose="02040503050406030204" pitchFamily="18" charset="0"/>
                      </a:rPr>
                      <m:t>=2,…,9</m:t>
                    </m:r>
                  </m:oMath>
                </a14:m>
                <a:endParaRPr lang="en-US" dirty="0"/>
              </a:p>
              <a:p>
                <a:pPr lvl="1"/>
                <a14:m>
                  <m:oMath xmlns:m="http://schemas.openxmlformats.org/officeDocument/2006/math">
                    <m:r>
                      <a:rPr lang="en-US" b="0" i="1" smtClean="0">
                        <a:latin typeface="Cambria Math" panose="02040503050406030204" pitchFamily="18" charset="0"/>
                      </a:rPr>
                      <m:t>𝑑</m:t>
                    </m:r>
                    <m:r>
                      <a:rPr lang="en-US" b="0" i="1" smtClean="0">
                        <a:latin typeface="Cambria Math" panose="02040503050406030204" pitchFamily="18" charset="0"/>
                      </a:rPr>
                      <m:t>=2</m:t>
                    </m:r>
                  </m:oMath>
                </a14:m>
                <a:r>
                  <a:rPr lang="en-US" dirty="0"/>
                  <a:t> allows for visualization</a:t>
                </a:r>
              </a:p>
              <a:p>
                <a:pPr lvl="1"/>
                <a14:m>
                  <m:oMath xmlns:m="http://schemas.openxmlformats.org/officeDocument/2006/math">
                    <m:r>
                      <a:rPr lang="en-US" b="0" i="1" smtClean="0">
                        <a:latin typeface="Cambria Math" panose="02040503050406030204" pitchFamily="18" charset="0"/>
                      </a:rPr>
                      <m:t>𝑑</m:t>
                    </m:r>
                    <m:r>
                      <a:rPr lang="en-US" b="0" i="1" smtClean="0">
                        <a:latin typeface="Cambria Math" panose="02040503050406030204" pitchFamily="18" charset="0"/>
                      </a:rPr>
                      <m:t>=9</m:t>
                    </m:r>
                  </m:oMath>
                </a14:m>
                <a:r>
                  <a:rPr lang="en-US" dirty="0"/>
                  <a:t> is still small compared to the number of data points</a:t>
                </a:r>
              </a:p>
              <a:p>
                <a:r>
                  <a:rPr lang="en-US" dirty="0"/>
                  <a:t>PCA and </a:t>
                </a:r>
                <a:r>
                  <a:rPr lang="en-US" dirty="0" err="1"/>
                  <a:t>kPCA</a:t>
                </a:r>
                <a:r>
                  <a:rPr lang="en-US" dirty="0"/>
                  <a:t> re-center the data, while NMF does not</a:t>
                </a:r>
              </a:p>
              <a:p>
                <a:r>
                  <a:rPr lang="en-US" dirty="0"/>
                  <a:t>All three methods lose biological tractability</a:t>
                </a:r>
              </a:p>
              <a:p>
                <a:pPr lvl="1"/>
                <a:r>
                  <a:rPr lang="en-US" dirty="0"/>
                  <a:t>Reduced dimensions have no biological meaning</a:t>
                </a:r>
              </a:p>
              <a:p>
                <a:endParaRPr lang="en-US" dirty="0"/>
              </a:p>
            </p:txBody>
          </p:sp>
        </mc:Choice>
        <mc:Fallback>
          <p:sp>
            <p:nvSpPr>
              <p:cNvPr id="3" name="Content Placeholder 2">
                <a:extLst>
                  <a:ext uri="{FF2B5EF4-FFF2-40B4-BE49-F238E27FC236}">
                    <a16:creationId xmlns:a16="http://schemas.microsoft.com/office/drawing/2014/main" id="{3E8EBE34-4C15-6891-2930-1617C6D2447F}"/>
                  </a:ext>
                </a:extLst>
              </p:cNvPr>
              <p:cNvSpPr>
                <a:spLocks noGrp="1" noRot="1" noChangeAspect="1" noMove="1" noResize="1" noEditPoints="1" noAdjustHandles="1" noChangeArrowheads="1" noChangeShapeType="1" noTextEdit="1"/>
              </p:cNvSpPr>
              <p:nvPr>
                <p:ph idx="1"/>
              </p:nvPr>
            </p:nvSpPr>
            <p:spPr>
              <a:blipFill>
                <a:blip r:embed="rId2"/>
                <a:stretch>
                  <a:fillRect l="-1436" t="-3788"/>
                </a:stretch>
              </a:blipFill>
            </p:spPr>
            <p:txBody>
              <a:bodyPr/>
              <a:lstStyle/>
              <a:p>
                <a:r>
                  <a:rPr lang="en-US">
                    <a:noFill/>
                  </a:rPr>
                  <a:t> </a:t>
                </a:r>
              </a:p>
            </p:txBody>
          </p:sp>
        </mc:Fallback>
      </mc:AlternateContent>
    </p:spTree>
    <p:extLst>
      <p:ext uri="{BB962C8B-B14F-4D97-AF65-F5344CB8AC3E}">
        <p14:creationId xmlns:p14="http://schemas.microsoft.com/office/powerpoint/2010/main" val="1679088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4D35785C-2D42-49A2-E5FD-87557C72960A}"/>
                  </a:ext>
                </a:extLst>
              </p:cNvPr>
              <p:cNvGraphicFramePr>
                <a:graphicFrameLocks noGrp="1"/>
              </p:cNvGraphicFramePr>
              <p:nvPr>
                <p:extLst>
                  <p:ext uri="{D42A27DB-BD31-4B8C-83A1-F6EECF244321}">
                    <p14:modId xmlns:p14="http://schemas.microsoft.com/office/powerpoint/2010/main" val="1282261654"/>
                  </p:ext>
                </p:extLst>
              </p:nvPr>
            </p:nvGraphicFramePr>
            <p:xfrm>
              <a:off x="0" y="821266"/>
              <a:ext cx="12192001" cy="5054600"/>
            </p:xfrm>
            <a:graphic>
              <a:graphicData uri="http://schemas.openxmlformats.org/drawingml/2006/table">
                <a:tbl>
                  <a:tblPr firstRow="1">
                    <a:tableStyleId>{9D7B26C5-4107-4FEC-AEDC-1716B250A1EF}</a:tableStyleId>
                  </a:tblPr>
                  <a:tblGrid>
                    <a:gridCol w="917677">
                      <a:extLst>
                        <a:ext uri="{9D8B030D-6E8A-4147-A177-3AD203B41FA5}">
                          <a16:colId xmlns:a16="http://schemas.microsoft.com/office/drawing/2014/main" val="3513306407"/>
                        </a:ext>
                      </a:extLst>
                    </a:gridCol>
                    <a:gridCol w="1203223">
                      <a:extLst>
                        <a:ext uri="{9D8B030D-6E8A-4147-A177-3AD203B41FA5}">
                          <a16:colId xmlns:a16="http://schemas.microsoft.com/office/drawing/2014/main" val="2401488922"/>
                        </a:ext>
                      </a:extLst>
                    </a:gridCol>
                    <a:gridCol w="7632700">
                      <a:extLst>
                        <a:ext uri="{9D8B030D-6E8A-4147-A177-3AD203B41FA5}">
                          <a16:colId xmlns:a16="http://schemas.microsoft.com/office/drawing/2014/main" val="1837227678"/>
                        </a:ext>
                      </a:extLst>
                    </a:gridCol>
                    <a:gridCol w="609600">
                      <a:extLst>
                        <a:ext uri="{9D8B030D-6E8A-4147-A177-3AD203B41FA5}">
                          <a16:colId xmlns:a16="http://schemas.microsoft.com/office/drawing/2014/main" val="1863154517"/>
                        </a:ext>
                      </a:extLst>
                    </a:gridCol>
                    <a:gridCol w="850900">
                      <a:extLst>
                        <a:ext uri="{9D8B030D-6E8A-4147-A177-3AD203B41FA5}">
                          <a16:colId xmlns:a16="http://schemas.microsoft.com/office/drawing/2014/main" val="2271533634"/>
                        </a:ext>
                      </a:extLst>
                    </a:gridCol>
                    <a:gridCol w="405841">
                      <a:extLst>
                        <a:ext uri="{9D8B030D-6E8A-4147-A177-3AD203B41FA5}">
                          <a16:colId xmlns:a16="http://schemas.microsoft.com/office/drawing/2014/main" val="497006075"/>
                        </a:ext>
                      </a:extLst>
                    </a:gridCol>
                    <a:gridCol w="572060">
                      <a:extLst>
                        <a:ext uri="{9D8B030D-6E8A-4147-A177-3AD203B41FA5}">
                          <a16:colId xmlns:a16="http://schemas.microsoft.com/office/drawing/2014/main" val="717625648"/>
                        </a:ext>
                      </a:extLst>
                    </a:gridCol>
                  </a:tblGrid>
                  <a:tr h="370840">
                    <a:tc>
                      <a:txBody>
                        <a:bodyPr/>
                        <a:lstStyle/>
                        <a:p>
                          <a:pPr algn="r"/>
                          <a:r>
                            <a:rPr lang="en-US" dirty="0"/>
                            <a:t>Dataset</a:t>
                          </a:r>
                        </a:p>
                      </a:txBody>
                      <a:tcPr anchor="b"/>
                    </a:tc>
                    <a:tc>
                      <a:txBody>
                        <a:bodyPr/>
                        <a:lstStyle/>
                        <a:p>
                          <a:r>
                            <a:rPr lang="en-US" dirty="0"/>
                            <a:t>GEO Accession</a:t>
                          </a:r>
                        </a:p>
                      </a:txBody>
                      <a:tcPr anchor="b"/>
                    </a:tc>
                    <a:tc>
                      <a:txBody>
                        <a:bodyPr/>
                        <a:lstStyle/>
                        <a:p>
                          <a:r>
                            <a:rPr lang="en-US" dirty="0"/>
                            <a:t>Title</a:t>
                          </a:r>
                        </a:p>
                      </a:txBody>
                      <a:tcPr anchor="b"/>
                    </a:tc>
                    <a:tc>
                      <a:txBody>
                        <a:bodyPr/>
                        <a:lstStyle/>
                        <a:p>
                          <a14:m>
                            <m:oMathPara xmlns:m="http://schemas.openxmlformats.org/officeDocument/2006/math">
                              <m:oMathParaPr>
                                <m:jc m:val="centerGroup"/>
                              </m:oMathParaPr>
                              <m:oMath xmlns:m="http://schemas.openxmlformats.org/officeDocument/2006/math">
                                <m:r>
                                  <a:rPr lang="en-US" b="1" smtClean="0"/>
                                  <m:t>𝒏</m:t>
                                </m:r>
                              </m:oMath>
                            </m:oMathPara>
                          </a14:m>
                          <a:endParaRPr lang="en-US" dirty="0"/>
                        </a:p>
                      </a:txBody>
                      <a:tcPr anchor="b"/>
                    </a:tc>
                    <a:tc>
                      <a:txBody>
                        <a:bodyPr/>
                        <a:lstStyle/>
                        <a:p>
                          <a14:m>
                            <m:oMathPara xmlns:m="http://schemas.openxmlformats.org/officeDocument/2006/math">
                              <m:oMathParaPr>
                                <m:jc m:val="centerGroup"/>
                              </m:oMathParaPr>
                              <m:oMath xmlns:m="http://schemas.openxmlformats.org/officeDocument/2006/math">
                                <m:r>
                                  <a:rPr lang="en-US" b="1" smtClean="0"/>
                                  <m:t>𝒅</m:t>
                                </m:r>
                              </m:oMath>
                            </m:oMathPara>
                          </a14:m>
                          <a:endParaRPr lang="en-US" dirty="0"/>
                        </a:p>
                      </a:txBody>
                      <a:tcPr anchor="b"/>
                    </a:tc>
                    <a:tc>
                      <a:txBody>
                        <a:bodyPr/>
                        <a:lstStyle/>
                        <a:p>
                          <a14:m>
                            <m:oMathPara xmlns:m="http://schemas.openxmlformats.org/officeDocument/2006/math">
                              <m:oMathParaPr>
                                <m:jc m:val="centerGroup"/>
                              </m:oMathParaPr>
                              <m:oMath xmlns:m="http://schemas.openxmlformats.org/officeDocument/2006/math">
                                <m:r>
                                  <a:rPr lang="en-US" b="1" smtClean="0"/>
                                  <m:t>𝒌</m:t>
                                </m:r>
                              </m:oMath>
                            </m:oMathPara>
                          </a14:m>
                          <a:endParaRPr lang="en-US" dirty="0"/>
                        </a:p>
                      </a:txBody>
                      <a:tcPr anchor="b"/>
                    </a:tc>
                    <a:tc>
                      <a:txBody>
                        <a:bodyPr/>
                        <a:lstStyle/>
                        <a:p>
                          <a:r>
                            <a:rPr lang="en-US" dirty="0"/>
                            <a:t>Ref.</a:t>
                          </a:r>
                        </a:p>
                      </a:txBody>
                      <a:tcPr anchor="b"/>
                    </a:tc>
                    <a:extLst>
                      <a:ext uri="{0D108BD9-81ED-4DB2-BD59-A6C34878D82A}">
                        <a16:rowId xmlns:a16="http://schemas.microsoft.com/office/drawing/2014/main" val="2141474220"/>
                      </a:ext>
                    </a:extLst>
                  </a:tr>
                  <a:tr h="370840">
                    <a:tc>
                      <a:txBody>
                        <a:bodyPr/>
                        <a:lstStyle/>
                        <a:p>
                          <a:pPr algn="r"/>
                          <a:r>
                            <a:rPr lang="en-US" dirty="0"/>
                            <a:t>UCC</a:t>
                          </a:r>
                        </a:p>
                      </a:txBody>
                      <a:tcPr/>
                    </a:tc>
                    <a:tc>
                      <a:txBody>
                        <a:bodyPr/>
                        <a:lstStyle/>
                        <a:p>
                          <a:r>
                            <a:rPr lang="en-US" dirty="0"/>
                            <a:t>GDS1615</a:t>
                          </a:r>
                        </a:p>
                      </a:txBody>
                      <a:tcPr/>
                    </a:tc>
                    <a:tc>
                      <a:txBody>
                        <a:bodyPr/>
                        <a:lstStyle/>
                        <a:p>
                          <a:r>
                            <a:rPr lang="en-US" dirty="0"/>
                            <a:t>Ulcerative colitis and Crohn's disease comparison: peripheral blood mononuclear cells</a:t>
                          </a:r>
                        </a:p>
                      </a:txBody>
                      <a:tcPr/>
                    </a:tc>
                    <a:tc>
                      <a:txBody>
                        <a:bodyPr/>
                        <a:lstStyle/>
                        <a:p>
                          <a:r>
                            <a:rPr lang="en-US" dirty="0"/>
                            <a:t>127</a:t>
                          </a:r>
                        </a:p>
                      </a:txBody>
                      <a:tcPr/>
                    </a:tc>
                    <a:tc>
                      <a:txBody>
                        <a:bodyPr/>
                        <a:lstStyle/>
                        <a:p>
                          <a:r>
                            <a:rPr lang="en-US" dirty="0"/>
                            <a:t>22283</a:t>
                          </a:r>
                        </a:p>
                      </a:txBody>
                      <a:tcPr/>
                    </a:tc>
                    <a:tc>
                      <a:txBody>
                        <a:bodyPr/>
                        <a:lstStyle/>
                        <a:p>
                          <a:r>
                            <a:rPr lang="en-US" dirty="0"/>
                            <a:t>3</a:t>
                          </a:r>
                        </a:p>
                      </a:txBody>
                      <a:tcPr/>
                    </a:tc>
                    <a:tc>
                      <a:txBody>
                        <a:bodyPr/>
                        <a:lstStyle/>
                        <a:p>
                          <a:r>
                            <a:rPr lang="en-US" dirty="0"/>
                            <a:t>[6]</a:t>
                          </a:r>
                        </a:p>
                      </a:txBody>
                      <a:tcPr/>
                    </a:tc>
                    <a:extLst>
                      <a:ext uri="{0D108BD9-81ED-4DB2-BD59-A6C34878D82A}">
                        <a16:rowId xmlns:a16="http://schemas.microsoft.com/office/drawing/2014/main" val="343776766"/>
                      </a:ext>
                    </a:extLst>
                  </a:tr>
                  <a:tr h="370840">
                    <a:tc>
                      <a:txBody>
                        <a:bodyPr/>
                        <a:lstStyle/>
                        <a:p>
                          <a:pPr algn="r"/>
                          <a:r>
                            <a:rPr lang="en-US" dirty="0"/>
                            <a:t>SCLC</a:t>
                          </a:r>
                        </a:p>
                      </a:txBody>
                      <a:tcPr/>
                    </a:tc>
                    <a:tc>
                      <a:txBody>
                        <a:bodyPr/>
                        <a:lstStyle/>
                        <a:p>
                          <a:r>
                            <a:rPr lang="en-US" dirty="0"/>
                            <a:t>GDS2373</a:t>
                          </a:r>
                        </a:p>
                      </a:txBody>
                      <a:tcPr/>
                    </a:tc>
                    <a:tc>
                      <a:txBody>
                        <a:bodyPr/>
                        <a:lstStyle/>
                        <a:p>
                          <a:r>
                            <a:rPr lang="en-US" dirty="0"/>
                            <a:t>Squamous cell lung carcinomas</a:t>
                          </a:r>
                        </a:p>
                      </a:txBody>
                      <a:tcPr/>
                    </a:tc>
                    <a:tc>
                      <a:txBody>
                        <a:bodyPr/>
                        <a:lstStyle/>
                        <a:p>
                          <a:r>
                            <a:rPr lang="en-US" dirty="0"/>
                            <a:t>130</a:t>
                          </a:r>
                        </a:p>
                      </a:txBody>
                      <a:tcPr/>
                    </a:tc>
                    <a:tc>
                      <a:txBody>
                        <a:bodyPr/>
                        <a:lstStyle/>
                        <a:p>
                          <a:r>
                            <a:rPr lang="en-US" dirty="0"/>
                            <a:t>22283</a:t>
                          </a:r>
                        </a:p>
                      </a:txBody>
                      <a:tcPr/>
                    </a:tc>
                    <a:tc>
                      <a:txBody>
                        <a:bodyPr/>
                        <a:lstStyle/>
                        <a:p>
                          <a:r>
                            <a:rPr lang="en-US" dirty="0"/>
                            <a:t>6</a:t>
                          </a:r>
                        </a:p>
                      </a:txBody>
                      <a:tcPr/>
                    </a:tc>
                    <a:tc>
                      <a:txBody>
                        <a:bodyPr/>
                        <a:lstStyle/>
                        <a:p>
                          <a:r>
                            <a:rPr lang="en-US" dirty="0"/>
                            <a:t>[7]</a:t>
                          </a:r>
                        </a:p>
                      </a:txBody>
                      <a:tcPr/>
                    </a:tc>
                    <a:extLst>
                      <a:ext uri="{0D108BD9-81ED-4DB2-BD59-A6C34878D82A}">
                        <a16:rowId xmlns:a16="http://schemas.microsoft.com/office/drawing/2014/main" val="1440537052"/>
                      </a:ext>
                    </a:extLst>
                  </a:tr>
                  <a:tr h="370840">
                    <a:tc>
                      <a:txBody>
                        <a:bodyPr/>
                        <a:lstStyle/>
                        <a:p>
                          <a:pPr algn="r"/>
                          <a:r>
                            <a:rPr lang="en-US" dirty="0"/>
                            <a:t>SEC</a:t>
                          </a:r>
                        </a:p>
                      </a:txBody>
                      <a:tcPr/>
                    </a:tc>
                    <a:tc>
                      <a:txBody>
                        <a:bodyPr/>
                        <a:lstStyle/>
                        <a:p>
                          <a:r>
                            <a:rPr lang="en-US" dirty="0"/>
                            <a:t>GDS2771</a:t>
                          </a:r>
                        </a:p>
                      </a:txBody>
                      <a:tcPr/>
                    </a:tc>
                    <a:tc>
                      <a:txBody>
                        <a:bodyPr/>
                        <a:lstStyle/>
                        <a:p>
                          <a:r>
                            <a:rPr lang="en-US" dirty="0"/>
                            <a:t>Large airway epithelial cells from cigarette smokers with suspect lung cancer</a:t>
                          </a:r>
                        </a:p>
                      </a:txBody>
                      <a:tcPr/>
                    </a:tc>
                    <a:tc>
                      <a:txBody>
                        <a:bodyPr/>
                        <a:lstStyle/>
                        <a:p>
                          <a:r>
                            <a:rPr lang="en-US" dirty="0"/>
                            <a:t>192</a:t>
                          </a:r>
                        </a:p>
                      </a:txBody>
                      <a:tcPr/>
                    </a:tc>
                    <a:tc>
                      <a:txBody>
                        <a:bodyPr/>
                        <a:lstStyle/>
                        <a:p>
                          <a:r>
                            <a:rPr lang="en-US" dirty="0"/>
                            <a:t>22283</a:t>
                          </a:r>
                        </a:p>
                      </a:txBody>
                      <a:tcPr/>
                    </a:tc>
                    <a:tc>
                      <a:txBody>
                        <a:bodyPr/>
                        <a:lstStyle/>
                        <a:p>
                          <a:r>
                            <a:rPr lang="en-US" dirty="0"/>
                            <a:t>3</a:t>
                          </a:r>
                        </a:p>
                      </a:txBody>
                      <a:tcPr/>
                    </a:tc>
                    <a:tc>
                      <a:txBody>
                        <a:bodyPr/>
                        <a:lstStyle/>
                        <a:p>
                          <a:r>
                            <a:rPr lang="en-US" dirty="0"/>
                            <a:t>[8]</a:t>
                          </a:r>
                        </a:p>
                      </a:txBody>
                      <a:tcPr/>
                    </a:tc>
                    <a:extLst>
                      <a:ext uri="{0D108BD9-81ED-4DB2-BD59-A6C34878D82A}">
                        <a16:rowId xmlns:a16="http://schemas.microsoft.com/office/drawing/2014/main" val="3228611451"/>
                      </a:ext>
                    </a:extLst>
                  </a:tr>
                  <a:tr h="370840">
                    <a:tc>
                      <a:txBody>
                        <a:bodyPr/>
                        <a:lstStyle/>
                        <a:p>
                          <a:pPr algn="r"/>
                          <a:r>
                            <a:rPr lang="en-US" dirty="0"/>
                            <a:t>MDS</a:t>
                          </a:r>
                        </a:p>
                      </a:txBody>
                      <a:tcPr/>
                    </a:tc>
                    <a:tc>
                      <a:txBody>
                        <a:bodyPr/>
                        <a:lstStyle/>
                        <a:p>
                          <a:r>
                            <a:rPr lang="en-US" dirty="0"/>
                            <a:t>GDS3795</a:t>
                          </a:r>
                        </a:p>
                      </a:txBody>
                      <a:tcPr/>
                    </a:tc>
                    <a:tc>
                      <a:txBody>
                        <a:bodyPr/>
                        <a:lstStyle/>
                        <a:p>
                          <a:r>
                            <a:rPr lang="en-US" dirty="0"/>
                            <a:t>Myelodysplastic syndrome: CD34+ hematopoietic stem cells</a:t>
                          </a:r>
                        </a:p>
                      </a:txBody>
                      <a:tcPr/>
                    </a:tc>
                    <a:tc>
                      <a:txBody>
                        <a:bodyPr/>
                        <a:lstStyle/>
                        <a:p>
                          <a:r>
                            <a:rPr lang="en-US" dirty="0"/>
                            <a:t>200</a:t>
                          </a:r>
                        </a:p>
                      </a:txBody>
                      <a:tcPr/>
                    </a:tc>
                    <a:tc>
                      <a:txBody>
                        <a:bodyPr/>
                        <a:lstStyle/>
                        <a:p>
                          <a:r>
                            <a:rPr lang="en-US" dirty="0"/>
                            <a:t>54675</a:t>
                          </a:r>
                        </a:p>
                      </a:txBody>
                      <a:tcPr/>
                    </a:tc>
                    <a:tc>
                      <a:txBody>
                        <a:bodyPr/>
                        <a:lstStyle/>
                        <a:p>
                          <a:r>
                            <a:rPr lang="en-US" dirty="0"/>
                            <a:t>2</a:t>
                          </a:r>
                        </a:p>
                      </a:txBody>
                      <a:tcPr/>
                    </a:tc>
                    <a:tc>
                      <a:txBody>
                        <a:bodyPr/>
                        <a:lstStyle/>
                        <a:p>
                          <a:r>
                            <a:rPr lang="en-US" dirty="0"/>
                            <a:t>[9]</a:t>
                          </a:r>
                        </a:p>
                      </a:txBody>
                      <a:tcPr/>
                    </a:tc>
                    <a:extLst>
                      <a:ext uri="{0D108BD9-81ED-4DB2-BD59-A6C34878D82A}">
                        <a16:rowId xmlns:a16="http://schemas.microsoft.com/office/drawing/2014/main" val="1136010095"/>
                      </a:ext>
                    </a:extLst>
                  </a:tr>
                  <a:tr h="370840">
                    <a:tc>
                      <a:txBody>
                        <a:bodyPr/>
                        <a:lstStyle/>
                        <a:p>
                          <a:pPr algn="r"/>
                          <a:r>
                            <a:rPr lang="en-US" dirty="0"/>
                            <a:t>ALL</a:t>
                          </a:r>
                        </a:p>
                      </a:txBody>
                      <a:tcPr/>
                    </a:tc>
                    <a:tc>
                      <a:txBody>
                        <a:bodyPr/>
                        <a:lstStyle/>
                        <a:p>
                          <a:r>
                            <a:rPr lang="en-US" dirty="0"/>
                            <a:t>GDS4206</a:t>
                          </a:r>
                        </a:p>
                      </a:txBody>
                      <a:tcPr/>
                    </a:tc>
                    <a:tc>
                      <a:txBody>
                        <a:bodyPr/>
                        <a:lstStyle/>
                        <a:p>
                          <a:r>
                            <a:rPr lang="en-US" dirty="0"/>
                            <a:t>Pediatric acute leukemia patients with early relapse: white blood cells</a:t>
                          </a:r>
                        </a:p>
                      </a:txBody>
                      <a:tcPr/>
                    </a:tc>
                    <a:tc>
                      <a:txBody>
                        <a:bodyPr/>
                        <a:lstStyle/>
                        <a:p>
                          <a:r>
                            <a:rPr lang="en-US" dirty="0"/>
                            <a:t>197</a:t>
                          </a:r>
                        </a:p>
                      </a:txBody>
                      <a:tcPr/>
                    </a:tc>
                    <a:tc>
                      <a:txBody>
                        <a:bodyPr/>
                        <a:lstStyle/>
                        <a:p>
                          <a:r>
                            <a:rPr lang="en-US" dirty="0"/>
                            <a:t>54675</a:t>
                          </a:r>
                        </a:p>
                      </a:txBody>
                      <a:tcPr/>
                    </a:tc>
                    <a:tc>
                      <a:txBody>
                        <a:bodyPr/>
                        <a:lstStyle/>
                        <a:p>
                          <a:r>
                            <a:rPr lang="en-US" dirty="0"/>
                            <a:t>3</a:t>
                          </a:r>
                        </a:p>
                      </a:txBody>
                      <a:tcPr/>
                    </a:tc>
                    <a:tc>
                      <a:txBody>
                        <a:bodyPr/>
                        <a:lstStyle/>
                        <a:p>
                          <a:r>
                            <a:rPr lang="en-US" dirty="0"/>
                            <a:t>[10]</a:t>
                          </a:r>
                        </a:p>
                      </a:txBody>
                      <a:tcPr/>
                    </a:tc>
                    <a:extLst>
                      <a:ext uri="{0D108BD9-81ED-4DB2-BD59-A6C34878D82A}">
                        <a16:rowId xmlns:a16="http://schemas.microsoft.com/office/drawing/2014/main" val="3237935943"/>
                      </a:ext>
                    </a:extLst>
                  </a:tr>
                  <a:tr h="370840">
                    <a:tc>
                      <a:txBody>
                        <a:bodyPr/>
                        <a:lstStyle/>
                        <a:p>
                          <a:pPr algn="r"/>
                          <a:r>
                            <a:rPr lang="en-US" dirty="0"/>
                            <a:t>HIV</a:t>
                          </a:r>
                        </a:p>
                      </a:txBody>
                      <a:tcPr/>
                    </a:tc>
                    <a:tc>
                      <a:txBody>
                        <a:bodyPr/>
                        <a:lstStyle/>
                        <a:p>
                          <a:r>
                            <a:rPr lang="en-US" dirty="0"/>
                            <a:t>GDS4228</a:t>
                          </a:r>
                        </a:p>
                      </a:txBody>
                      <a:tcPr/>
                    </a:tc>
                    <a:tc>
                      <a:txBody>
                        <a:bodyPr/>
                        <a:lstStyle/>
                        <a:p>
                          <a:r>
                            <a:rPr lang="en-US" dirty="0"/>
                            <a:t>HIV infection and Antiretroviral Therapy effects on mitochondria in various tissues</a:t>
                          </a:r>
                        </a:p>
                      </a:txBody>
                      <a:tcPr/>
                    </a:tc>
                    <a:tc>
                      <a:txBody>
                        <a:bodyPr/>
                        <a:lstStyle/>
                        <a:p>
                          <a:r>
                            <a:rPr lang="en-US" dirty="0"/>
                            <a:t>166</a:t>
                          </a:r>
                        </a:p>
                      </a:txBody>
                      <a:tcPr/>
                    </a:tc>
                    <a:tc>
                      <a:txBody>
                        <a:bodyPr/>
                        <a:lstStyle/>
                        <a:p>
                          <a:r>
                            <a:rPr lang="en-US" dirty="0"/>
                            <a:t>4825</a:t>
                          </a:r>
                        </a:p>
                      </a:txBody>
                      <a:tcPr/>
                    </a:tc>
                    <a:tc>
                      <a:txBody>
                        <a:bodyPr/>
                        <a:lstStyle/>
                        <a:p>
                          <a:r>
                            <a:rPr lang="en-US" dirty="0"/>
                            <a:t>2</a:t>
                          </a:r>
                        </a:p>
                      </a:txBody>
                      <a:tcPr/>
                    </a:tc>
                    <a:tc>
                      <a:txBody>
                        <a:bodyPr/>
                        <a:lstStyle/>
                        <a:p>
                          <a:r>
                            <a:rPr lang="en-US" dirty="0"/>
                            <a:t>[11]</a:t>
                          </a:r>
                        </a:p>
                      </a:txBody>
                      <a:tcPr/>
                    </a:tc>
                    <a:extLst>
                      <a:ext uri="{0D108BD9-81ED-4DB2-BD59-A6C34878D82A}">
                        <a16:rowId xmlns:a16="http://schemas.microsoft.com/office/drawing/2014/main" val="2412193088"/>
                      </a:ext>
                    </a:extLst>
                  </a:tr>
                  <a:tr h="370840">
                    <a:tc>
                      <a:txBody>
                        <a:bodyPr/>
                        <a:lstStyle/>
                        <a:p>
                          <a:pPr algn="r"/>
                          <a:r>
                            <a:rPr lang="en-US" dirty="0"/>
                            <a:t>JIA</a:t>
                          </a:r>
                        </a:p>
                      </a:txBody>
                      <a:tcPr/>
                    </a:tc>
                    <a:tc>
                      <a:txBody>
                        <a:bodyPr/>
                        <a:lstStyle/>
                        <a:p>
                          <a:r>
                            <a:rPr lang="en-US" dirty="0"/>
                            <a:t>GDS4267</a:t>
                          </a:r>
                        </a:p>
                      </a:txBody>
                      <a:tcPr/>
                    </a:tc>
                    <a:tc>
                      <a:txBody>
                        <a:bodyPr/>
                        <a:lstStyle/>
                        <a:p>
                          <a:r>
                            <a:rPr lang="en-US" dirty="0"/>
                            <a:t>Systemic juvenile idiopathic arthritis and non-systemic JIA subtypes: peripheral blood mononuclear cells</a:t>
                          </a:r>
                        </a:p>
                      </a:txBody>
                      <a:tcPr/>
                    </a:tc>
                    <a:tc>
                      <a:txBody>
                        <a:bodyPr/>
                        <a:lstStyle/>
                        <a:p>
                          <a:r>
                            <a:rPr lang="en-US" dirty="0"/>
                            <a:t>154</a:t>
                          </a:r>
                        </a:p>
                      </a:txBody>
                      <a:tcPr/>
                    </a:tc>
                    <a:tc>
                      <a:txBody>
                        <a:bodyPr/>
                        <a:lstStyle/>
                        <a:p>
                          <a:r>
                            <a:rPr lang="en-US" dirty="0"/>
                            <a:t>54675</a:t>
                          </a:r>
                        </a:p>
                      </a:txBody>
                      <a:tcPr/>
                    </a:tc>
                    <a:tc>
                      <a:txBody>
                        <a:bodyPr/>
                        <a:lstStyle/>
                        <a:p>
                          <a:r>
                            <a:rPr lang="en-US" dirty="0"/>
                            <a:t>3</a:t>
                          </a:r>
                        </a:p>
                      </a:txBody>
                      <a:tcPr/>
                    </a:tc>
                    <a:tc>
                      <a:txBody>
                        <a:bodyPr/>
                        <a:lstStyle/>
                        <a:p>
                          <a:r>
                            <a:rPr lang="en-US" dirty="0"/>
                            <a:t>[12]</a:t>
                          </a:r>
                        </a:p>
                      </a:txBody>
                      <a:tcPr/>
                    </a:tc>
                    <a:extLst>
                      <a:ext uri="{0D108BD9-81ED-4DB2-BD59-A6C34878D82A}">
                        <a16:rowId xmlns:a16="http://schemas.microsoft.com/office/drawing/2014/main" val="1009559963"/>
                      </a:ext>
                    </a:extLst>
                  </a:tr>
                  <a:tr h="370840">
                    <a:tc>
                      <a:txBody>
                        <a:bodyPr/>
                        <a:lstStyle/>
                        <a:p>
                          <a:pPr algn="r"/>
                          <a:r>
                            <a:rPr lang="en-US" dirty="0"/>
                            <a:t>GBM</a:t>
                          </a:r>
                        </a:p>
                      </a:txBody>
                      <a:tcPr/>
                    </a:tc>
                    <a:tc>
                      <a:txBody>
                        <a:bodyPr/>
                        <a:lstStyle/>
                        <a:p>
                          <a:r>
                            <a:rPr lang="en-US" dirty="0"/>
                            <a:t>GDS5205</a:t>
                          </a:r>
                        </a:p>
                      </a:txBody>
                      <a:tcPr/>
                    </a:tc>
                    <a:tc>
                      <a:txBody>
                        <a:bodyPr/>
                        <a:lstStyle/>
                        <a:p>
                          <a:r>
                            <a:rPr lang="en-US" dirty="0"/>
                            <a:t>Long-term adult survivors of glioblastoma: primary tumors</a:t>
                          </a:r>
                        </a:p>
                      </a:txBody>
                      <a:tcPr/>
                    </a:tc>
                    <a:tc>
                      <a:txBody>
                        <a:bodyPr/>
                        <a:lstStyle/>
                        <a:p>
                          <a:r>
                            <a:rPr lang="en-US" dirty="0"/>
                            <a:t>70</a:t>
                          </a:r>
                        </a:p>
                      </a:txBody>
                      <a:tcPr/>
                    </a:tc>
                    <a:tc>
                      <a:txBody>
                        <a:bodyPr/>
                        <a:lstStyle/>
                        <a:p>
                          <a:r>
                            <a:rPr lang="en-US" dirty="0"/>
                            <a:t>54675</a:t>
                          </a:r>
                        </a:p>
                      </a:txBody>
                      <a:tcPr/>
                    </a:tc>
                    <a:tc>
                      <a:txBody>
                        <a:bodyPr/>
                        <a:lstStyle/>
                        <a:p>
                          <a:r>
                            <a:rPr lang="en-US" dirty="0"/>
                            <a:t>3</a:t>
                          </a:r>
                        </a:p>
                      </a:txBody>
                      <a:tcPr/>
                    </a:tc>
                    <a:tc>
                      <a:txBody>
                        <a:bodyPr/>
                        <a:lstStyle/>
                        <a:p>
                          <a:r>
                            <a:rPr lang="en-US" dirty="0"/>
                            <a:t>[13]</a:t>
                          </a:r>
                        </a:p>
                      </a:txBody>
                      <a:tcPr/>
                    </a:tc>
                    <a:extLst>
                      <a:ext uri="{0D108BD9-81ED-4DB2-BD59-A6C34878D82A}">
                        <a16:rowId xmlns:a16="http://schemas.microsoft.com/office/drawing/2014/main" val="609753312"/>
                      </a:ext>
                    </a:extLst>
                  </a:tr>
                  <a:tr h="370840">
                    <a:tc>
                      <a:txBody>
                        <a:bodyPr/>
                        <a:lstStyle/>
                        <a:p>
                          <a:pPr algn="r"/>
                          <a:r>
                            <a:rPr lang="en-US" dirty="0"/>
                            <a:t>MDG</a:t>
                          </a:r>
                        </a:p>
                      </a:txBody>
                      <a:tcPr/>
                    </a:tc>
                    <a:tc>
                      <a:txBody>
                        <a:bodyPr/>
                        <a:lstStyle/>
                        <a:p>
                          <a:r>
                            <a:rPr lang="en-US" dirty="0"/>
                            <a:t>GDS963</a:t>
                          </a:r>
                        </a:p>
                      </a:txBody>
                      <a:tcPr/>
                    </a:tc>
                    <a:tc>
                      <a:txBody>
                        <a:bodyPr/>
                        <a:lstStyle/>
                        <a:p>
                          <a:r>
                            <a:rPr lang="en-US" dirty="0"/>
                            <a:t>Macular degeneration and dermal fibroblast response to sublethal oxidative stress</a:t>
                          </a:r>
                        </a:p>
                      </a:txBody>
                      <a:tcPr/>
                    </a:tc>
                    <a:tc>
                      <a:txBody>
                        <a:bodyPr/>
                        <a:lstStyle/>
                        <a:p>
                          <a:r>
                            <a:rPr lang="en-US" dirty="0"/>
                            <a:t>36</a:t>
                          </a:r>
                        </a:p>
                      </a:txBody>
                      <a:tcPr/>
                    </a:tc>
                    <a:tc>
                      <a:txBody>
                        <a:bodyPr/>
                        <a:lstStyle/>
                        <a:p>
                          <a:r>
                            <a:rPr lang="en-US" dirty="0"/>
                            <a:t>12625</a:t>
                          </a:r>
                        </a:p>
                      </a:txBody>
                      <a:tcPr/>
                    </a:tc>
                    <a:tc>
                      <a:txBody>
                        <a:bodyPr/>
                        <a:lstStyle/>
                        <a:p>
                          <a:r>
                            <a:rPr lang="en-US" dirty="0"/>
                            <a:t>2</a:t>
                          </a:r>
                        </a:p>
                      </a:txBody>
                      <a:tcPr/>
                    </a:tc>
                    <a:tc>
                      <a:txBody>
                        <a:bodyPr/>
                        <a:lstStyle/>
                        <a:p>
                          <a:r>
                            <a:rPr lang="en-US" dirty="0"/>
                            <a:t>[14]</a:t>
                          </a:r>
                        </a:p>
                      </a:txBody>
                      <a:tcPr/>
                    </a:tc>
                    <a:extLst>
                      <a:ext uri="{0D108BD9-81ED-4DB2-BD59-A6C34878D82A}">
                        <a16:rowId xmlns:a16="http://schemas.microsoft.com/office/drawing/2014/main" val="4054605093"/>
                      </a:ext>
                    </a:extLst>
                  </a:tr>
                </a:tbl>
              </a:graphicData>
            </a:graphic>
          </p:graphicFrame>
        </mc:Choice>
        <mc:Fallback>
          <p:graphicFrame>
            <p:nvGraphicFramePr>
              <p:cNvPr id="4" name="Table 3">
                <a:extLst>
                  <a:ext uri="{FF2B5EF4-FFF2-40B4-BE49-F238E27FC236}">
                    <a16:creationId xmlns:a16="http://schemas.microsoft.com/office/drawing/2014/main" id="{4D35785C-2D42-49A2-E5FD-87557C72960A}"/>
                  </a:ext>
                </a:extLst>
              </p:cNvPr>
              <p:cNvGraphicFramePr>
                <a:graphicFrameLocks noGrp="1"/>
              </p:cNvGraphicFramePr>
              <p:nvPr>
                <p:extLst>
                  <p:ext uri="{D42A27DB-BD31-4B8C-83A1-F6EECF244321}">
                    <p14:modId xmlns:p14="http://schemas.microsoft.com/office/powerpoint/2010/main" val="1282261654"/>
                  </p:ext>
                </p:extLst>
              </p:nvPr>
            </p:nvGraphicFramePr>
            <p:xfrm>
              <a:off x="0" y="821266"/>
              <a:ext cx="12192001" cy="5054600"/>
            </p:xfrm>
            <a:graphic>
              <a:graphicData uri="http://schemas.openxmlformats.org/drawingml/2006/table">
                <a:tbl>
                  <a:tblPr firstRow="1">
                    <a:tableStyleId>{9D7B26C5-4107-4FEC-AEDC-1716B250A1EF}</a:tableStyleId>
                  </a:tblPr>
                  <a:tblGrid>
                    <a:gridCol w="917677">
                      <a:extLst>
                        <a:ext uri="{9D8B030D-6E8A-4147-A177-3AD203B41FA5}">
                          <a16:colId xmlns:a16="http://schemas.microsoft.com/office/drawing/2014/main" val="3513306407"/>
                        </a:ext>
                      </a:extLst>
                    </a:gridCol>
                    <a:gridCol w="1203223">
                      <a:extLst>
                        <a:ext uri="{9D8B030D-6E8A-4147-A177-3AD203B41FA5}">
                          <a16:colId xmlns:a16="http://schemas.microsoft.com/office/drawing/2014/main" val="2401488922"/>
                        </a:ext>
                      </a:extLst>
                    </a:gridCol>
                    <a:gridCol w="7632700">
                      <a:extLst>
                        <a:ext uri="{9D8B030D-6E8A-4147-A177-3AD203B41FA5}">
                          <a16:colId xmlns:a16="http://schemas.microsoft.com/office/drawing/2014/main" val="1837227678"/>
                        </a:ext>
                      </a:extLst>
                    </a:gridCol>
                    <a:gridCol w="609600">
                      <a:extLst>
                        <a:ext uri="{9D8B030D-6E8A-4147-A177-3AD203B41FA5}">
                          <a16:colId xmlns:a16="http://schemas.microsoft.com/office/drawing/2014/main" val="1863154517"/>
                        </a:ext>
                      </a:extLst>
                    </a:gridCol>
                    <a:gridCol w="850900">
                      <a:extLst>
                        <a:ext uri="{9D8B030D-6E8A-4147-A177-3AD203B41FA5}">
                          <a16:colId xmlns:a16="http://schemas.microsoft.com/office/drawing/2014/main" val="2271533634"/>
                        </a:ext>
                      </a:extLst>
                    </a:gridCol>
                    <a:gridCol w="405841">
                      <a:extLst>
                        <a:ext uri="{9D8B030D-6E8A-4147-A177-3AD203B41FA5}">
                          <a16:colId xmlns:a16="http://schemas.microsoft.com/office/drawing/2014/main" val="497006075"/>
                        </a:ext>
                      </a:extLst>
                    </a:gridCol>
                    <a:gridCol w="572060">
                      <a:extLst>
                        <a:ext uri="{9D8B030D-6E8A-4147-A177-3AD203B41FA5}">
                          <a16:colId xmlns:a16="http://schemas.microsoft.com/office/drawing/2014/main" val="717625648"/>
                        </a:ext>
                      </a:extLst>
                    </a:gridCol>
                  </a:tblGrid>
                  <a:tr h="640080">
                    <a:tc>
                      <a:txBody>
                        <a:bodyPr/>
                        <a:lstStyle/>
                        <a:p>
                          <a:pPr algn="r"/>
                          <a:r>
                            <a:rPr lang="en-US" dirty="0"/>
                            <a:t>Dataset</a:t>
                          </a:r>
                        </a:p>
                      </a:txBody>
                      <a:tcPr anchor="b"/>
                    </a:tc>
                    <a:tc>
                      <a:txBody>
                        <a:bodyPr/>
                        <a:lstStyle/>
                        <a:p>
                          <a:r>
                            <a:rPr lang="en-US" dirty="0"/>
                            <a:t>GEO Accession</a:t>
                          </a:r>
                        </a:p>
                      </a:txBody>
                      <a:tcPr anchor="b"/>
                    </a:tc>
                    <a:tc>
                      <a:txBody>
                        <a:bodyPr/>
                        <a:lstStyle/>
                        <a:p>
                          <a:r>
                            <a:rPr lang="en-US" dirty="0"/>
                            <a:t>Title</a:t>
                          </a:r>
                        </a:p>
                      </a:txBody>
                      <a:tcPr anchor="b"/>
                    </a:tc>
                    <a:tc>
                      <a:txBody>
                        <a:bodyPr/>
                        <a:lstStyle/>
                        <a:p>
                          <a:endParaRPr lang="en-US"/>
                        </a:p>
                      </a:txBody>
                      <a:tcPr anchor="b">
                        <a:blipFill>
                          <a:blip r:embed="rId2"/>
                          <a:stretch>
                            <a:fillRect l="-1601000" t="-4762" r="-301000" b="-705714"/>
                          </a:stretch>
                        </a:blipFill>
                      </a:tcPr>
                    </a:tc>
                    <a:tc>
                      <a:txBody>
                        <a:bodyPr/>
                        <a:lstStyle/>
                        <a:p>
                          <a:endParaRPr lang="en-US"/>
                        </a:p>
                      </a:txBody>
                      <a:tcPr anchor="b">
                        <a:blipFill>
                          <a:blip r:embed="rId2"/>
                          <a:stretch>
                            <a:fillRect l="-1215000" t="-4762" r="-115000" b="-705714"/>
                          </a:stretch>
                        </a:blipFill>
                      </a:tcPr>
                    </a:tc>
                    <a:tc>
                      <a:txBody>
                        <a:bodyPr/>
                        <a:lstStyle/>
                        <a:p>
                          <a:endParaRPr lang="en-US"/>
                        </a:p>
                      </a:txBody>
                      <a:tcPr anchor="b">
                        <a:blipFill>
                          <a:blip r:embed="rId2"/>
                          <a:stretch>
                            <a:fillRect l="-2789394" t="-4762" r="-143939" b="-705714"/>
                          </a:stretch>
                        </a:blipFill>
                      </a:tcPr>
                    </a:tc>
                    <a:tc>
                      <a:txBody>
                        <a:bodyPr/>
                        <a:lstStyle/>
                        <a:p>
                          <a:r>
                            <a:rPr lang="en-US" dirty="0"/>
                            <a:t>Ref.</a:t>
                          </a:r>
                        </a:p>
                      </a:txBody>
                      <a:tcPr anchor="b"/>
                    </a:tc>
                    <a:extLst>
                      <a:ext uri="{0D108BD9-81ED-4DB2-BD59-A6C34878D82A}">
                        <a16:rowId xmlns:a16="http://schemas.microsoft.com/office/drawing/2014/main" val="2141474220"/>
                      </a:ext>
                    </a:extLst>
                  </a:tr>
                  <a:tr h="640080">
                    <a:tc>
                      <a:txBody>
                        <a:bodyPr/>
                        <a:lstStyle/>
                        <a:p>
                          <a:pPr algn="r"/>
                          <a:r>
                            <a:rPr lang="en-US" dirty="0"/>
                            <a:t>UCC</a:t>
                          </a:r>
                        </a:p>
                      </a:txBody>
                      <a:tcPr/>
                    </a:tc>
                    <a:tc>
                      <a:txBody>
                        <a:bodyPr/>
                        <a:lstStyle/>
                        <a:p>
                          <a:r>
                            <a:rPr lang="en-US" dirty="0"/>
                            <a:t>GDS1615</a:t>
                          </a:r>
                        </a:p>
                      </a:txBody>
                      <a:tcPr/>
                    </a:tc>
                    <a:tc>
                      <a:txBody>
                        <a:bodyPr/>
                        <a:lstStyle/>
                        <a:p>
                          <a:r>
                            <a:rPr lang="en-US" dirty="0"/>
                            <a:t>Ulcerative colitis and Crohn's disease comparison: peripheral blood mononuclear cells</a:t>
                          </a:r>
                        </a:p>
                      </a:txBody>
                      <a:tcPr/>
                    </a:tc>
                    <a:tc>
                      <a:txBody>
                        <a:bodyPr/>
                        <a:lstStyle/>
                        <a:p>
                          <a:r>
                            <a:rPr lang="en-US" dirty="0"/>
                            <a:t>127</a:t>
                          </a:r>
                        </a:p>
                      </a:txBody>
                      <a:tcPr/>
                    </a:tc>
                    <a:tc>
                      <a:txBody>
                        <a:bodyPr/>
                        <a:lstStyle/>
                        <a:p>
                          <a:r>
                            <a:rPr lang="en-US" dirty="0"/>
                            <a:t>22283</a:t>
                          </a:r>
                        </a:p>
                      </a:txBody>
                      <a:tcPr/>
                    </a:tc>
                    <a:tc>
                      <a:txBody>
                        <a:bodyPr/>
                        <a:lstStyle/>
                        <a:p>
                          <a:r>
                            <a:rPr lang="en-US" dirty="0"/>
                            <a:t>3</a:t>
                          </a:r>
                        </a:p>
                      </a:txBody>
                      <a:tcPr/>
                    </a:tc>
                    <a:tc>
                      <a:txBody>
                        <a:bodyPr/>
                        <a:lstStyle/>
                        <a:p>
                          <a:r>
                            <a:rPr lang="en-US" dirty="0"/>
                            <a:t>[6]</a:t>
                          </a:r>
                        </a:p>
                      </a:txBody>
                      <a:tcPr/>
                    </a:tc>
                    <a:extLst>
                      <a:ext uri="{0D108BD9-81ED-4DB2-BD59-A6C34878D82A}">
                        <a16:rowId xmlns:a16="http://schemas.microsoft.com/office/drawing/2014/main" val="343776766"/>
                      </a:ext>
                    </a:extLst>
                  </a:tr>
                  <a:tr h="370840">
                    <a:tc>
                      <a:txBody>
                        <a:bodyPr/>
                        <a:lstStyle/>
                        <a:p>
                          <a:pPr algn="r"/>
                          <a:r>
                            <a:rPr lang="en-US" dirty="0"/>
                            <a:t>SCLC</a:t>
                          </a:r>
                        </a:p>
                      </a:txBody>
                      <a:tcPr/>
                    </a:tc>
                    <a:tc>
                      <a:txBody>
                        <a:bodyPr/>
                        <a:lstStyle/>
                        <a:p>
                          <a:r>
                            <a:rPr lang="en-US" dirty="0"/>
                            <a:t>GDS2373</a:t>
                          </a:r>
                        </a:p>
                      </a:txBody>
                      <a:tcPr/>
                    </a:tc>
                    <a:tc>
                      <a:txBody>
                        <a:bodyPr/>
                        <a:lstStyle/>
                        <a:p>
                          <a:r>
                            <a:rPr lang="en-US" dirty="0"/>
                            <a:t>Squamous cell lung carcinomas</a:t>
                          </a:r>
                        </a:p>
                      </a:txBody>
                      <a:tcPr/>
                    </a:tc>
                    <a:tc>
                      <a:txBody>
                        <a:bodyPr/>
                        <a:lstStyle/>
                        <a:p>
                          <a:r>
                            <a:rPr lang="en-US" dirty="0"/>
                            <a:t>130</a:t>
                          </a:r>
                        </a:p>
                      </a:txBody>
                      <a:tcPr/>
                    </a:tc>
                    <a:tc>
                      <a:txBody>
                        <a:bodyPr/>
                        <a:lstStyle/>
                        <a:p>
                          <a:r>
                            <a:rPr lang="en-US" dirty="0"/>
                            <a:t>22283</a:t>
                          </a:r>
                        </a:p>
                      </a:txBody>
                      <a:tcPr/>
                    </a:tc>
                    <a:tc>
                      <a:txBody>
                        <a:bodyPr/>
                        <a:lstStyle/>
                        <a:p>
                          <a:r>
                            <a:rPr lang="en-US" dirty="0"/>
                            <a:t>6</a:t>
                          </a:r>
                        </a:p>
                      </a:txBody>
                      <a:tcPr/>
                    </a:tc>
                    <a:tc>
                      <a:txBody>
                        <a:bodyPr/>
                        <a:lstStyle/>
                        <a:p>
                          <a:r>
                            <a:rPr lang="en-US" dirty="0"/>
                            <a:t>[7]</a:t>
                          </a:r>
                        </a:p>
                      </a:txBody>
                      <a:tcPr/>
                    </a:tc>
                    <a:extLst>
                      <a:ext uri="{0D108BD9-81ED-4DB2-BD59-A6C34878D82A}">
                        <a16:rowId xmlns:a16="http://schemas.microsoft.com/office/drawing/2014/main" val="1440537052"/>
                      </a:ext>
                    </a:extLst>
                  </a:tr>
                  <a:tr h="370840">
                    <a:tc>
                      <a:txBody>
                        <a:bodyPr/>
                        <a:lstStyle/>
                        <a:p>
                          <a:pPr algn="r"/>
                          <a:r>
                            <a:rPr lang="en-US" dirty="0"/>
                            <a:t>SEC</a:t>
                          </a:r>
                        </a:p>
                      </a:txBody>
                      <a:tcPr/>
                    </a:tc>
                    <a:tc>
                      <a:txBody>
                        <a:bodyPr/>
                        <a:lstStyle/>
                        <a:p>
                          <a:r>
                            <a:rPr lang="en-US" dirty="0"/>
                            <a:t>GDS2771</a:t>
                          </a:r>
                        </a:p>
                      </a:txBody>
                      <a:tcPr/>
                    </a:tc>
                    <a:tc>
                      <a:txBody>
                        <a:bodyPr/>
                        <a:lstStyle/>
                        <a:p>
                          <a:r>
                            <a:rPr lang="en-US" dirty="0"/>
                            <a:t>Large airway epithelial cells from cigarette smokers with suspect lung cancer</a:t>
                          </a:r>
                        </a:p>
                      </a:txBody>
                      <a:tcPr/>
                    </a:tc>
                    <a:tc>
                      <a:txBody>
                        <a:bodyPr/>
                        <a:lstStyle/>
                        <a:p>
                          <a:r>
                            <a:rPr lang="en-US" dirty="0"/>
                            <a:t>192</a:t>
                          </a:r>
                        </a:p>
                      </a:txBody>
                      <a:tcPr/>
                    </a:tc>
                    <a:tc>
                      <a:txBody>
                        <a:bodyPr/>
                        <a:lstStyle/>
                        <a:p>
                          <a:r>
                            <a:rPr lang="en-US" dirty="0"/>
                            <a:t>22283</a:t>
                          </a:r>
                        </a:p>
                      </a:txBody>
                      <a:tcPr/>
                    </a:tc>
                    <a:tc>
                      <a:txBody>
                        <a:bodyPr/>
                        <a:lstStyle/>
                        <a:p>
                          <a:r>
                            <a:rPr lang="en-US" dirty="0"/>
                            <a:t>3</a:t>
                          </a:r>
                        </a:p>
                      </a:txBody>
                      <a:tcPr/>
                    </a:tc>
                    <a:tc>
                      <a:txBody>
                        <a:bodyPr/>
                        <a:lstStyle/>
                        <a:p>
                          <a:r>
                            <a:rPr lang="en-US" dirty="0"/>
                            <a:t>[8]</a:t>
                          </a:r>
                        </a:p>
                      </a:txBody>
                      <a:tcPr/>
                    </a:tc>
                    <a:extLst>
                      <a:ext uri="{0D108BD9-81ED-4DB2-BD59-A6C34878D82A}">
                        <a16:rowId xmlns:a16="http://schemas.microsoft.com/office/drawing/2014/main" val="3228611451"/>
                      </a:ext>
                    </a:extLst>
                  </a:tr>
                  <a:tr h="370840">
                    <a:tc>
                      <a:txBody>
                        <a:bodyPr/>
                        <a:lstStyle/>
                        <a:p>
                          <a:pPr algn="r"/>
                          <a:r>
                            <a:rPr lang="en-US" dirty="0"/>
                            <a:t>MDS</a:t>
                          </a:r>
                        </a:p>
                      </a:txBody>
                      <a:tcPr/>
                    </a:tc>
                    <a:tc>
                      <a:txBody>
                        <a:bodyPr/>
                        <a:lstStyle/>
                        <a:p>
                          <a:r>
                            <a:rPr lang="en-US" dirty="0"/>
                            <a:t>GDS3795</a:t>
                          </a:r>
                        </a:p>
                      </a:txBody>
                      <a:tcPr/>
                    </a:tc>
                    <a:tc>
                      <a:txBody>
                        <a:bodyPr/>
                        <a:lstStyle/>
                        <a:p>
                          <a:r>
                            <a:rPr lang="en-US" dirty="0"/>
                            <a:t>Myelodysplastic syndrome: CD34+ hematopoietic stem cells</a:t>
                          </a:r>
                        </a:p>
                      </a:txBody>
                      <a:tcPr/>
                    </a:tc>
                    <a:tc>
                      <a:txBody>
                        <a:bodyPr/>
                        <a:lstStyle/>
                        <a:p>
                          <a:r>
                            <a:rPr lang="en-US" dirty="0"/>
                            <a:t>200</a:t>
                          </a:r>
                        </a:p>
                      </a:txBody>
                      <a:tcPr/>
                    </a:tc>
                    <a:tc>
                      <a:txBody>
                        <a:bodyPr/>
                        <a:lstStyle/>
                        <a:p>
                          <a:r>
                            <a:rPr lang="en-US" dirty="0"/>
                            <a:t>54675</a:t>
                          </a:r>
                        </a:p>
                      </a:txBody>
                      <a:tcPr/>
                    </a:tc>
                    <a:tc>
                      <a:txBody>
                        <a:bodyPr/>
                        <a:lstStyle/>
                        <a:p>
                          <a:r>
                            <a:rPr lang="en-US" dirty="0"/>
                            <a:t>2</a:t>
                          </a:r>
                        </a:p>
                      </a:txBody>
                      <a:tcPr/>
                    </a:tc>
                    <a:tc>
                      <a:txBody>
                        <a:bodyPr/>
                        <a:lstStyle/>
                        <a:p>
                          <a:r>
                            <a:rPr lang="en-US" dirty="0"/>
                            <a:t>[9]</a:t>
                          </a:r>
                        </a:p>
                      </a:txBody>
                      <a:tcPr/>
                    </a:tc>
                    <a:extLst>
                      <a:ext uri="{0D108BD9-81ED-4DB2-BD59-A6C34878D82A}">
                        <a16:rowId xmlns:a16="http://schemas.microsoft.com/office/drawing/2014/main" val="1136010095"/>
                      </a:ext>
                    </a:extLst>
                  </a:tr>
                  <a:tr h="370840">
                    <a:tc>
                      <a:txBody>
                        <a:bodyPr/>
                        <a:lstStyle/>
                        <a:p>
                          <a:pPr algn="r"/>
                          <a:r>
                            <a:rPr lang="en-US" dirty="0"/>
                            <a:t>ALL</a:t>
                          </a:r>
                        </a:p>
                      </a:txBody>
                      <a:tcPr/>
                    </a:tc>
                    <a:tc>
                      <a:txBody>
                        <a:bodyPr/>
                        <a:lstStyle/>
                        <a:p>
                          <a:r>
                            <a:rPr lang="en-US" dirty="0"/>
                            <a:t>GDS4206</a:t>
                          </a:r>
                        </a:p>
                      </a:txBody>
                      <a:tcPr/>
                    </a:tc>
                    <a:tc>
                      <a:txBody>
                        <a:bodyPr/>
                        <a:lstStyle/>
                        <a:p>
                          <a:r>
                            <a:rPr lang="en-US" dirty="0"/>
                            <a:t>Pediatric acute leukemia patients with early relapse: white blood cells</a:t>
                          </a:r>
                        </a:p>
                      </a:txBody>
                      <a:tcPr/>
                    </a:tc>
                    <a:tc>
                      <a:txBody>
                        <a:bodyPr/>
                        <a:lstStyle/>
                        <a:p>
                          <a:r>
                            <a:rPr lang="en-US" dirty="0"/>
                            <a:t>197</a:t>
                          </a:r>
                        </a:p>
                      </a:txBody>
                      <a:tcPr/>
                    </a:tc>
                    <a:tc>
                      <a:txBody>
                        <a:bodyPr/>
                        <a:lstStyle/>
                        <a:p>
                          <a:r>
                            <a:rPr lang="en-US" dirty="0"/>
                            <a:t>54675</a:t>
                          </a:r>
                        </a:p>
                      </a:txBody>
                      <a:tcPr/>
                    </a:tc>
                    <a:tc>
                      <a:txBody>
                        <a:bodyPr/>
                        <a:lstStyle/>
                        <a:p>
                          <a:r>
                            <a:rPr lang="en-US" dirty="0"/>
                            <a:t>3</a:t>
                          </a:r>
                        </a:p>
                      </a:txBody>
                      <a:tcPr/>
                    </a:tc>
                    <a:tc>
                      <a:txBody>
                        <a:bodyPr/>
                        <a:lstStyle/>
                        <a:p>
                          <a:r>
                            <a:rPr lang="en-US" dirty="0"/>
                            <a:t>[10]</a:t>
                          </a:r>
                        </a:p>
                      </a:txBody>
                      <a:tcPr/>
                    </a:tc>
                    <a:extLst>
                      <a:ext uri="{0D108BD9-81ED-4DB2-BD59-A6C34878D82A}">
                        <a16:rowId xmlns:a16="http://schemas.microsoft.com/office/drawing/2014/main" val="3237935943"/>
                      </a:ext>
                    </a:extLst>
                  </a:tr>
                  <a:tr h="640080">
                    <a:tc>
                      <a:txBody>
                        <a:bodyPr/>
                        <a:lstStyle/>
                        <a:p>
                          <a:pPr algn="r"/>
                          <a:r>
                            <a:rPr lang="en-US" dirty="0"/>
                            <a:t>HIV</a:t>
                          </a:r>
                        </a:p>
                      </a:txBody>
                      <a:tcPr/>
                    </a:tc>
                    <a:tc>
                      <a:txBody>
                        <a:bodyPr/>
                        <a:lstStyle/>
                        <a:p>
                          <a:r>
                            <a:rPr lang="en-US" dirty="0"/>
                            <a:t>GDS4228</a:t>
                          </a:r>
                        </a:p>
                      </a:txBody>
                      <a:tcPr/>
                    </a:tc>
                    <a:tc>
                      <a:txBody>
                        <a:bodyPr/>
                        <a:lstStyle/>
                        <a:p>
                          <a:r>
                            <a:rPr lang="en-US" dirty="0"/>
                            <a:t>HIV infection and Antiretroviral Therapy effects on mitochondria in various tissues</a:t>
                          </a:r>
                        </a:p>
                      </a:txBody>
                      <a:tcPr/>
                    </a:tc>
                    <a:tc>
                      <a:txBody>
                        <a:bodyPr/>
                        <a:lstStyle/>
                        <a:p>
                          <a:r>
                            <a:rPr lang="en-US" dirty="0"/>
                            <a:t>166</a:t>
                          </a:r>
                        </a:p>
                      </a:txBody>
                      <a:tcPr/>
                    </a:tc>
                    <a:tc>
                      <a:txBody>
                        <a:bodyPr/>
                        <a:lstStyle/>
                        <a:p>
                          <a:r>
                            <a:rPr lang="en-US" dirty="0"/>
                            <a:t>4825</a:t>
                          </a:r>
                        </a:p>
                      </a:txBody>
                      <a:tcPr/>
                    </a:tc>
                    <a:tc>
                      <a:txBody>
                        <a:bodyPr/>
                        <a:lstStyle/>
                        <a:p>
                          <a:r>
                            <a:rPr lang="en-US" dirty="0"/>
                            <a:t>2</a:t>
                          </a:r>
                        </a:p>
                      </a:txBody>
                      <a:tcPr/>
                    </a:tc>
                    <a:tc>
                      <a:txBody>
                        <a:bodyPr/>
                        <a:lstStyle/>
                        <a:p>
                          <a:r>
                            <a:rPr lang="en-US" dirty="0"/>
                            <a:t>[11]</a:t>
                          </a:r>
                        </a:p>
                      </a:txBody>
                      <a:tcPr/>
                    </a:tc>
                    <a:extLst>
                      <a:ext uri="{0D108BD9-81ED-4DB2-BD59-A6C34878D82A}">
                        <a16:rowId xmlns:a16="http://schemas.microsoft.com/office/drawing/2014/main" val="2412193088"/>
                      </a:ext>
                    </a:extLst>
                  </a:tr>
                  <a:tr h="640080">
                    <a:tc>
                      <a:txBody>
                        <a:bodyPr/>
                        <a:lstStyle/>
                        <a:p>
                          <a:pPr algn="r"/>
                          <a:r>
                            <a:rPr lang="en-US" dirty="0"/>
                            <a:t>JIA</a:t>
                          </a:r>
                        </a:p>
                      </a:txBody>
                      <a:tcPr/>
                    </a:tc>
                    <a:tc>
                      <a:txBody>
                        <a:bodyPr/>
                        <a:lstStyle/>
                        <a:p>
                          <a:r>
                            <a:rPr lang="en-US" dirty="0"/>
                            <a:t>GDS4267</a:t>
                          </a:r>
                        </a:p>
                      </a:txBody>
                      <a:tcPr/>
                    </a:tc>
                    <a:tc>
                      <a:txBody>
                        <a:bodyPr/>
                        <a:lstStyle/>
                        <a:p>
                          <a:r>
                            <a:rPr lang="en-US" dirty="0"/>
                            <a:t>Systemic juvenile idiopathic arthritis and non-systemic JIA subtypes: peripheral blood mononuclear cells</a:t>
                          </a:r>
                        </a:p>
                      </a:txBody>
                      <a:tcPr/>
                    </a:tc>
                    <a:tc>
                      <a:txBody>
                        <a:bodyPr/>
                        <a:lstStyle/>
                        <a:p>
                          <a:r>
                            <a:rPr lang="en-US" dirty="0"/>
                            <a:t>154</a:t>
                          </a:r>
                        </a:p>
                      </a:txBody>
                      <a:tcPr/>
                    </a:tc>
                    <a:tc>
                      <a:txBody>
                        <a:bodyPr/>
                        <a:lstStyle/>
                        <a:p>
                          <a:r>
                            <a:rPr lang="en-US" dirty="0"/>
                            <a:t>54675</a:t>
                          </a:r>
                        </a:p>
                      </a:txBody>
                      <a:tcPr/>
                    </a:tc>
                    <a:tc>
                      <a:txBody>
                        <a:bodyPr/>
                        <a:lstStyle/>
                        <a:p>
                          <a:r>
                            <a:rPr lang="en-US" dirty="0"/>
                            <a:t>3</a:t>
                          </a:r>
                        </a:p>
                      </a:txBody>
                      <a:tcPr/>
                    </a:tc>
                    <a:tc>
                      <a:txBody>
                        <a:bodyPr/>
                        <a:lstStyle/>
                        <a:p>
                          <a:r>
                            <a:rPr lang="en-US" dirty="0"/>
                            <a:t>[12]</a:t>
                          </a:r>
                        </a:p>
                      </a:txBody>
                      <a:tcPr/>
                    </a:tc>
                    <a:extLst>
                      <a:ext uri="{0D108BD9-81ED-4DB2-BD59-A6C34878D82A}">
                        <a16:rowId xmlns:a16="http://schemas.microsoft.com/office/drawing/2014/main" val="1009559963"/>
                      </a:ext>
                    </a:extLst>
                  </a:tr>
                  <a:tr h="370840">
                    <a:tc>
                      <a:txBody>
                        <a:bodyPr/>
                        <a:lstStyle/>
                        <a:p>
                          <a:pPr algn="r"/>
                          <a:r>
                            <a:rPr lang="en-US" dirty="0"/>
                            <a:t>GBM</a:t>
                          </a:r>
                        </a:p>
                      </a:txBody>
                      <a:tcPr/>
                    </a:tc>
                    <a:tc>
                      <a:txBody>
                        <a:bodyPr/>
                        <a:lstStyle/>
                        <a:p>
                          <a:r>
                            <a:rPr lang="en-US" dirty="0"/>
                            <a:t>GDS5205</a:t>
                          </a:r>
                        </a:p>
                      </a:txBody>
                      <a:tcPr/>
                    </a:tc>
                    <a:tc>
                      <a:txBody>
                        <a:bodyPr/>
                        <a:lstStyle/>
                        <a:p>
                          <a:r>
                            <a:rPr lang="en-US" dirty="0"/>
                            <a:t>Long-term adult survivors of glioblastoma: primary tumors</a:t>
                          </a:r>
                        </a:p>
                      </a:txBody>
                      <a:tcPr/>
                    </a:tc>
                    <a:tc>
                      <a:txBody>
                        <a:bodyPr/>
                        <a:lstStyle/>
                        <a:p>
                          <a:r>
                            <a:rPr lang="en-US" dirty="0"/>
                            <a:t>70</a:t>
                          </a:r>
                        </a:p>
                      </a:txBody>
                      <a:tcPr/>
                    </a:tc>
                    <a:tc>
                      <a:txBody>
                        <a:bodyPr/>
                        <a:lstStyle/>
                        <a:p>
                          <a:r>
                            <a:rPr lang="en-US" dirty="0"/>
                            <a:t>54675</a:t>
                          </a:r>
                        </a:p>
                      </a:txBody>
                      <a:tcPr/>
                    </a:tc>
                    <a:tc>
                      <a:txBody>
                        <a:bodyPr/>
                        <a:lstStyle/>
                        <a:p>
                          <a:r>
                            <a:rPr lang="en-US" dirty="0"/>
                            <a:t>3</a:t>
                          </a:r>
                        </a:p>
                      </a:txBody>
                      <a:tcPr/>
                    </a:tc>
                    <a:tc>
                      <a:txBody>
                        <a:bodyPr/>
                        <a:lstStyle/>
                        <a:p>
                          <a:r>
                            <a:rPr lang="en-US" dirty="0"/>
                            <a:t>[13]</a:t>
                          </a:r>
                        </a:p>
                      </a:txBody>
                      <a:tcPr/>
                    </a:tc>
                    <a:extLst>
                      <a:ext uri="{0D108BD9-81ED-4DB2-BD59-A6C34878D82A}">
                        <a16:rowId xmlns:a16="http://schemas.microsoft.com/office/drawing/2014/main" val="609753312"/>
                      </a:ext>
                    </a:extLst>
                  </a:tr>
                  <a:tr h="640080">
                    <a:tc>
                      <a:txBody>
                        <a:bodyPr/>
                        <a:lstStyle/>
                        <a:p>
                          <a:pPr algn="r"/>
                          <a:r>
                            <a:rPr lang="en-US" dirty="0"/>
                            <a:t>MDG</a:t>
                          </a:r>
                        </a:p>
                      </a:txBody>
                      <a:tcPr/>
                    </a:tc>
                    <a:tc>
                      <a:txBody>
                        <a:bodyPr/>
                        <a:lstStyle/>
                        <a:p>
                          <a:r>
                            <a:rPr lang="en-US" dirty="0"/>
                            <a:t>GDS963</a:t>
                          </a:r>
                        </a:p>
                      </a:txBody>
                      <a:tcPr/>
                    </a:tc>
                    <a:tc>
                      <a:txBody>
                        <a:bodyPr/>
                        <a:lstStyle/>
                        <a:p>
                          <a:r>
                            <a:rPr lang="en-US" dirty="0"/>
                            <a:t>Macular degeneration and dermal fibroblast response to sublethal oxidative stress</a:t>
                          </a:r>
                        </a:p>
                      </a:txBody>
                      <a:tcPr/>
                    </a:tc>
                    <a:tc>
                      <a:txBody>
                        <a:bodyPr/>
                        <a:lstStyle/>
                        <a:p>
                          <a:r>
                            <a:rPr lang="en-US" dirty="0"/>
                            <a:t>36</a:t>
                          </a:r>
                        </a:p>
                      </a:txBody>
                      <a:tcPr/>
                    </a:tc>
                    <a:tc>
                      <a:txBody>
                        <a:bodyPr/>
                        <a:lstStyle/>
                        <a:p>
                          <a:r>
                            <a:rPr lang="en-US" dirty="0"/>
                            <a:t>12625</a:t>
                          </a:r>
                        </a:p>
                      </a:txBody>
                      <a:tcPr/>
                    </a:tc>
                    <a:tc>
                      <a:txBody>
                        <a:bodyPr/>
                        <a:lstStyle/>
                        <a:p>
                          <a:r>
                            <a:rPr lang="en-US" dirty="0"/>
                            <a:t>2</a:t>
                          </a:r>
                        </a:p>
                      </a:txBody>
                      <a:tcPr/>
                    </a:tc>
                    <a:tc>
                      <a:txBody>
                        <a:bodyPr/>
                        <a:lstStyle/>
                        <a:p>
                          <a:r>
                            <a:rPr lang="en-US" dirty="0"/>
                            <a:t>[14]</a:t>
                          </a:r>
                        </a:p>
                      </a:txBody>
                      <a:tcPr/>
                    </a:tc>
                    <a:extLst>
                      <a:ext uri="{0D108BD9-81ED-4DB2-BD59-A6C34878D82A}">
                        <a16:rowId xmlns:a16="http://schemas.microsoft.com/office/drawing/2014/main" val="4054605093"/>
                      </a:ext>
                    </a:extLst>
                  </a:tr>
                </a:tbl>
              </a:graphicData>
            </a:graphic>
          </p:graphicFrame>
        </mc:Fallback>
      </mc:AlternateContent>
    </p:spTree>
    <p:extLst>
      <p:ext uri="{BB962C8B-B14F-4D97-AF65-F5344CB8AC3E}">
        <p14:creationId xmlns:p14="http://schemas.microsoft.com/office/powerpoint/2010/main" val="163775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73B2D-8F0D-C8BB-EEF5-51AB21E7A965}"/>
              </a:ext>
            </a:extLst>
          </p:cNvPr>
          <p:cNvSpPr>
            <a:spLocks noGrp="1"/>
          </p:cNvSpPr>
          <p:nvPr>
            <p:ph type="title"/>
          </p:nvPr>
        </p:nvSpPr>
        <p:spPr/>
        <p:txBody>
          <a:bodyPr/>
          <a:lstStyle/>
          <a:p>
            <a:r>
              <a:rPr lang="en-US" dirty="0"/>
              <a:t>Methodological Notes</a:t>
            </a:r>
          </a:p>
        </p:txBody>
      </p:sp>
      <p:sp>
        <p:nvSpPr>
          <p:cNvPr id="3" name="Content Placeholder 2">
            <a:extLst>
              <a:ext uri="{FF2B5EF4-FFF2-40B4-BE49-F238E27FC236}">
                <a16:creationId xmlns:a16="http://schemas.microsoft.com/office/drawing/2014/main" id="{13022B76-71D2-0671-89A2-2F44C13A5230}"/>
              </a:ext>
            </a:extLst>
          </p:cNvPr>
          <p:cNvSpPr>
            <a:spLocks noGrp="1"/>
          </p:cNvSpPr>
          <p:nvPr>
            <p:ph idx="1"/>
          </p:nvPr>
        </p:nvSpPr>
        <p:spPr/>
        <p:txBody>
          <a:bodyPr/>
          <a:lstStyle/>
          <a:p>
            <a:r>
              <a:rPr lang="en-US" dirty="0"/>
              <a:t>All reported accuracy values are from leave-one-out validation</a:t>
            </a:r>
          </a:p>
          <a:p>
            <a:pPr lvl="1"/>
            <a:r>
              <a:rPr lang="en-US" dirty="0"/>
              <a:t>Small dataset sizes make traditional cross-validation infeasible</a:t>
            </a:r>
          </a:p>
          <a:p>
            <a:r>
              <a:rPr lang="en-US" dirty="0"/>
              <a:t>Some dataset features do not correspond to genes</a:t>
            </a:r>
          </a:p>
          <a:p>
            <a:pPr lvl="1"/>
            <a:r>
              <a:rPr lang="en-US" dirty="0"/>
              <a:t>Sequencing platform controls, etc.</a:t>
            </a:r>
          </a:p>
          <a:p>
            <a:pPr lvl="1"/>
            <a:r>
              <a:rPr lang="en-US" dirty="0"/>
              <a:t>These were removed</a:t>
            </a:r>
          </a:p>
          <a:p>
            <a:r>
              <a:rPr lang="en-US" dirty="0"/>
              <a:t>All data/code is available on GitHub:</a:t>
            </a:r>
          </a:p>
          <a:p>
            <a:pPr lvl="1"/>
            <a:r>
              <a:rPr lang="en-US" dirty="0">
                <a:hlinkClick r:id="rId2"/>
              </a:rPr>
              <a:t>https://github.com/nolan-middleton/CPT_S-Group-Project-Fall-2025</a:t>
            </a:r>
            <a:r>
              <a:rPr lang="en-US" dirty="0"/>
              <a:t> </a:t>
            </a:r>
          </a:p>
        </p:txBody>
      </p:sp>
    </p:spTree>
    <p:extLst>
      <p:ext uri="{BB962C8B-B14F-4D97-AF65-F5344CB8AC3E}">
        <p14:creationId xmlns:p14="http://schemas.microsoft.com/office/powerpoint/2010/main" val="613451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different colored lines&#10;&#10;AI-generated content may be incorrect.">
            <a:extLst>
              <a:ext uri="{FF2B5EF4-FFF2-40B4-BE49-F238E27FC236}">
                <a16:creationId xmlns:a16="http://schemas.microsoft.com/office/drawing/2014/main" id="{F595FDC4-A5E1-C6E6-9CA4-9275DE01FA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43000"/>
            <a:ext cx="12192000" cy="4572000"/>
          </a:xfrm>
          <a:prstGeom prst="rect">
            <a:avLst/>
          </a:prstGeom>
        </p:spPr>
      </p:pic>
    </p:spTree>
    <p:extLst>
      <p:ext uri="{BB962C8B-B14F-4D97-AF65-F5344CB8AC3E}">
        <p14:creationId xmlns:p14="http://schemas.microsoft.com/office/powerpoint/2010/main" val="667713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number of different colors&#10;&#10;AI-generated content may be incorrect.">
            <a:extLst>
              <a:ext uri="{FF2B5EF4-FFF2-40B4-BE49-F238E27FC236}">
                <a16:creationId xmlns:a16="http://schemas.microsoft.com/office/drawing/2014/main" id="{AE292D6F-140D-F8A1-95A6-5BFB652E26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42999"/>
            <a:ext cx="12192000" cy="4572001"/>
          </a:xfrm>
          <a:prstGeom prst="rect">
            <a:avLst/>
          </a:prstGeom>
        </p:spPr>
      </p:pic>
    </p:spTree>
    <p:extLst>
      <p:ext uri="{BB962C8B-B14F-4D97-AF65-F5344CB8AC3E}">
        <p14:creationId xmlns:p14="http://schemas.microsoft.com/office/powerpoint/2010/main" val="3783372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321638-18FB-0197-2EFC-B1837DA310B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096000"/>
          </a:xfrm>
          <a:prstGeom prst="rect">
            <a:avLst/>
          </a:prstGeom>
        </p:spPr>
      </p:pic>
    </p:spTree>
    <p:extLst>
      <p:ext uri="{BB962C8B-B14F-4D97-AF65-F5344CB8AC3E}">
        <p14:creationId xmlns:p14="http://schemas.microsoft.com/office/powerpoint/2010/main" val="111220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11677ED-4FAE-A6AA-AFF3-A35949CBC80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47994" y="0"/>
            <a:ext cx="6096012" cy="6096012"/>
          </a:xfrm>
          <a:prstGeom prst="rect">
            <a:avLst/>
          </a:prstGeom>
        </p:spPr>
      </p:pic>
    </p:spTree>
    <p:extLst>
      <p:ext uri="{BB962C8B-B14F-4D97-AF65-F5344CB8AC3E}">
        <p14:creationId xmlns:p14="http://schemas.microsoft.com/office/powerpoint/2010/main" val="1337991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number of dots&#10;&#10;AI-generated content may be incorrect.">
            <a:extLst>
              <a:ext uri="{FF2B5EF4-FFF2-40B4-BE49-F238E27FC236}">
                <a16:creationId xmlns:a16="http://schemas.microsoft.com/office/drawing/2014/main" id="{5EF08C03-2E95-A588-39B0-5FD05C4D93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0"/>
            <a:ext cx="6096012" cy="3048006"/>
          </a:xfrm>
          <a:prstGeom prst="rect">
            <a:avLst/>
          </a:prstGeom>
        </p:spPr>
      </p:pic>
      <p:pic>
        <p:nvPicPr>
          <p:cNvPr id="5" name="Picture 4" descr="A diagram of a number of dots&#10;&#10;AI-generated content may be incorrect.">
            <a:extLst>
              <a:ext uri="{FF2B5EF4-FFF2-40B4-BE49-F238E27FC236}">
                <a16:creationId xmlns:a16="http://schemas.microsoft.com/office/drawing/2014/main" id="{6B1FF4FE-973F-F89F-465C-5A61F815BC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 y="0"/>
            <a:ext cx="6096012" cy="3048006"/>
          </a:xfrm>
          <a:prstGeom prst="rect">
            <a:avLst/>
          </a:prstGeom>
        </p:spPr>
      </p:pic>
      <p:pic>
        <p:nvPicPr>
          <p:cNvPr id="7" name="Picture 6">
            <a:extLst>
              <a:ext uri="{FF2B5EF4-FFF2-40B4-BE49-F238E27FC236}">
                <a16:creationId xmlns:a16="http://schemas.microsoft.com/office/drawing/2014/main" id="{639D6AD9-B423-F7DF-5EA8-A51370CA1B6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0" y="3048006"/>
            <a:ext cx="6096012" cy="3048006"/>
          </a:xfrm>
          <a:prstGeom prst="rect">
            <a:avLst/>
          </a:prstGeom>
        </p:spPr>
      </p:pic>
      <p:pic>
        <p:nvPicPr>
          <p:cNvPr id="9" name="Picture 8" descr="A graph showing a number of points&#10;&#10;AI-generated content may be incorrect.">
            <a:extLst>
              <a:ext uri="{FF2B5EF4-FFF2-40B4-BE49-F238E27FC236}">
                <a16:creationId xmlns:a16="http://schemas.microsoft.com/office/drawing/2014/main" id="{DD7BAE11-AA14-DAE7-451C-CB95C3D0D5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5994" y="3048006"/>
            <a:ext cx="6096012" cy="3048006"/>
          </a:xfrm>
          <a:prstGeom prst="rect">
            <a:avLst/>
          </a:prstGeom>
        </p:spPr>
      </p:pic>
    </p:spTree>
    <p:extLst>
      <p:ext uri="{BB962C8B-B14F-4D97-AF65-F5344CB8AC3E}">
        <p14:creationId xmlns:p14="http://schemas.microsoft.com/office/powerpoint/2010/main" val="109290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different colors and sizes&#10;&#10;AI-generated content may be incorrect.">
            <a:extLst>
              <a:ext uri="{FF2B5EF4-FFF2-40B4-BE49-F238E27FC236}">
                <a16:creationId xmlns:a16="http://schemas.microsoft.com/office/drawing/2014/main" id="{C71855D3-18D2-DE0C-1C1E-FA8CF26195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19667"/>
            <a:ext cx="12192000" cy="5418666"/>
          </a:xfrm>
          <a:prstGeom prst="rect">
            <a:avLst/>
          </a:prstGeom>
        </p:spPr>
      </p:pic>
    </p:spTree>
    <p:extLst>
      <p:ext uri="{BB962C8B-B14F-4D97-AF65-F5344CB8AC3E}">
        <p14:creationId xmlns:p14="http://schemas.microsoft.com/office/powerpoint/2010/main" val="32804982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DFD98-38B3-6ABE-1D5A-C0A2DB5A73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C261D0B-0DED-DAFF-95A5-FBDD5F46C8F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990600"/>
            <a:ext cx="12192000" cy="4876799"/>
          </a:xfrm>
          <a:prstGeom prst="rect">
            <a:avLst/>
          </a:prstGeom>
        </p:spPr>
      </p:pic>
    </p:spTree>
    <p:extLst>
      <p:ext uri="{BB962C8B-B14F-4D97-AF65-F5344CB8AC3E}">
        <p14:creationId xmlns:p14="http://schemas.microsoft.com/office/powerpoint/2010/main" val="42547405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FC3FF-23AD-9049-D15D-9F586A114F3B}"/>
              </a:ext>
            </a:extLst>
          </p:cNvPr>
          <p:cNvSpPr>
            <a:spLocks noGrp="1"/>
          </p:cNvSpPr>
          <p:nvPr>
            <p:ph type="title"/>
          </p:nvPr>
        </p:nvSpPr>
        <p:spPr/>
        <p:txBody>
          <a:bodyPr/>
          <a:lstStyle/>
          <a:p>
            <a:r>
              <a:rPr lang="en-US" dirty="0"/>
              <a:t>Conclusions</a:t>
            </a:r>
          </a:p>
        </p:txBody>
      </p:sp>
      <p:sp>
        <p:nvSpPr>
          <p:cNvPr id="3" name="Content Placeholder 2">
            <a:extLst>
              <a:ext uri="{FF2B5EF4-FFF2-40B4-BE49-F238E27FC236}">
                <a16:creationId xmlns:a16="http://schemas.microsoft.com/office/drawing/2014/main" id="{7B3DB614-74AB-74B9-D032-23FB7E024025}"/>
              </a:ext>
            </a:extLst>
          </p:cNvPr>
          <p:cNvSpPr>
            <a:spLocks noGrp="1"/>
          </p:cNvSpPr>
          <p:nvPr>
            <p:ph idx="1"/>
          </p:nvPr>
        </p:nvSpPr>
        <p:spPr/>
        <p:txBody>
          <a:bodyPr>
            <a:noAutofit/>
          </a:bodyPr>
          <a:lstStyle/>
          <a:p>
            <a:r>
              <a:rPr lang="en-US" dirty="0"/>
              <a:t>The impacts of dimensionality reduction are varied</a:t>
            </a:r>
          </a:p>
          <a:p>
            <a:pPr lvl="1"/>
            <a:r>
              <a:rPr lang="en-US" dirty="0"/>
              <a:t>Can help and harm classification performance</a:t>
            </a:r>
          </a:p>
          <a:p>
            <a:pPr lvl="1"/>
            <a:r>
              <a:rPr lang="en-US" dirty="0"/>
              <a:t>Highly variable across datasets, dimension, and classification model</a:t>
            </a:r>
          </a:p>
          <a:p>
            <a:r>
              <a:rPr lang="en-US" dirty="0"/>
              <a:t>Likely depends on:</a:t>
            </a:r>
          </a:p>
          <a:p>
            <a:pPr lvl="1"/>
            <a:r>
              <a:rPr lang="en-US" dirty="0"/>
              <a:t>Underlying biological context</a:t>
            </a:r>
          </a:p>
          <a:p>
            <a:pPr lvl="1"/>
            <a:r>
              <a:rPr lang="en-US" dirty="0"/>
              <a:t>Spatial features of dataset</a:t>
            </a:r>
          </a:p>
          <a:p>
            <a:pPr lvl="1"/>
            <a:r>
              <a:rPr lang="en-US" dirty="0"/>
              <a:t>Dataset parameters (number of points, number of classes, etc.)</a:t>
            </a:r>
          </a:p>
          <a:p>
            <a:pPr lvl="1"/>
            <a:endParaRPr lang="en-US" dirty="0"/>
          </a:p>
        </p:txBody>
      </p:sp>
    </p:spTree>
    <p:extLst>
      <p:ext uri="{BB962C8B-B14F-4D97-AF65-F5344CB8AC3E}">
        <p14:creationId xmlns:p14="http://schemas.microsoft.com/office/powerpoint/2010/main" val="1922640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0BCF4-547C-9A4A-C9E3-D5DDE0583397}"/>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43C4DE1F-F106-11C9-CE17-18849DAD100E}"/>
              </a:ext>
            </a:extLst>
          </p:cNvPr>
          <p:cNvSpPr>
            <a:spLocks noGrp="1"/>
          </p:cNvSpPr>
          <p:nvPr>
            <p:ph idx="1"/>
          </p:nvPr>
        </p:nvSpPr>
        <p:spPr/>
        <p:txBody>
          <a:bodyPr>
            <a:normAutofit fontScale="25000" lnSpcReduction="20000"/>
          </a:bodyPr>
          <a:lstStyle/>
          <a:p>
            <a:pPr marL="234950" indent="-234950">
              <a:spcBef>
                <a:spcPts val="0"/>
              </a:spcBef>
              <a:spcAft>
                <a:spcPts val="400"/>
              </a:spcAft>
              <a:buFont typeface="+mj-lt"/>
              <a:buAutoNum type="arabicPeriod"/>
              <a:tabLst>
                <a:tab pos="166688" algn="l"/>
              </a:tabLst>
            </a:pPr>
            <a:r>
              <a:rPr lang="en-US" dirty="0" err="1"/>
              <a:t>Tingpeng</a:t>
            </a:r>
            <a:r>
              <a:rPr lang="en-US" dirty="0"/>
              <a:t> Yang, </a:t>
            </a:r>
            <a:r>
              <a:rPr lang="en-US" dirty="0" err="1"/>
              <a:t>Yonghong</a:t>
            </a:r>
            <a:r>
              <a:rPr lang="en-US" dirty="0"/>
              <a:t> He, and Yu Wang. Introducing tec-</a:t>
            </a:r>
            <a:r>
              <a:rPr lang="en-US" dirty="0" err="1"/>
              <a:t>lncmir</a:t>
            </a:r>
            <a:r>
              <a:rPr lang="en-US" dirty="0"/>
              <a:t> for prediction of </a:t>
            </a:r>
            <a:r>
              <a:rPr lang="en-US" dirty="0" err="1"/>
              <a:t>lncrna-mirna</a:t>
            </a:r>
            <a:r>
              <a:rPr lang="en-US" dirty="0"/>
              <a:t> interactions through deep learning of </a:t>
            </a:r>
            <a:r>
              <a:rPr lang="en-US" dirty="0" err="1"/>
              <a:t>rna</a:t>
            </a:r>
            <a:r>
              <a:rPr lang="en-US" dirty="0"/>
              <a:t> sequences. Brief </a:t>
            </a:r>
            <a:r>
              <a:rPr lang="en-US" dirty="0" err="1"/>
              <a:t>Bioinform</a:t>
            </a:r>
            <a:r>
              <a:rPr lang="en-US" dirty="0"/>
              <a:t>, 26(1):bbaf046, 02 2025. ISSN 1477-4054. </a:t>
            </a:r>
            <a:r>
              <a:rPr lang="en-US" dirty="0" err="1"/>
              <a:t>doi</a:t>
            </a:r>
            <a:r>
              <a:rPr lang="en-US" dirty="0"/>
              <a:t>: 10.1093/bib/bbaf046. URL https://doi.org/10.1093/bib/bbaf046.</a:t>
            </a:r>
          </a:p>
          <a:p>
            <a:pPr marL="234950" indent="-234950">
              <a:spcBef>
                <a:spcPts val="0"/>
              </a:spcBef>
              <a:spcAft>
                <a:spcPts val="400"/>
              </a:spcAft>
              <a:buFont typeface="+mj-lt"/>
              <a:buAutoNum type="arabicPeriod"/>
              <a:tabLst>
                <a:tab pos="166688" algn="l"/>
              </a:tabLst>
            </a:pPr>
            <a:r>
              <a:rPr lang="en-US" dirty="0"/>
              <a:t>Hannah E Wilson, Scott Stevison, Levi Lamprey, and John J Wyrick. Mapping transcription factor binding sites by learning </a:t>
            </a:r>
            <a:r>
              <a:rPr lang="en-US" dirty="0" err="1"/>
              <a:t>uv</a:t>
            </a:r>
            <a:r>
              <a:rPr lang="en-US" dirty="0"/>
              <a:t> damage fingerprints. Nucleic Acids Res, 53(19):gkaf1014, 10 2025. ISSN 1362-4962. </a:t>
            </a:r>
            <a:r>
              <a:rPr lang="en-US" dirty="0" err="1"/>
              <a:t>doi</a:t>
            </a:r>
            <a:r>
              <a:rPr lang="en-US" dirty="0"/>
              <a:t>: 10.1093/</a:t>
            </a:r>
            <a:r>
              <a:rPr lang="en-US" dirty="0" err="1"/>
              <a:t>nar</a:t>
            </a:r>
            <a:r>
              <a:rPr lang="en-US" dirty="0"/>
              <a:t>/gkaf1014. URL https://doi.org/10.1093/nar/gkaf1014.</a:t>
            </a:r>
          </a:p>
          <a:p>
            <a:pPr marL="234950" indent="-234950">
              <a:spcBef>
                <a:spcPts val="0"/>
              </a:spcBef>
              <a:spcAft>
                <a:spcPts val="400"/>
              </a:spcAft>
              <a:buFont typeface="+mj-lt"/>
              <a:buAutoNum type="arabicPeriod"/>
              <a:tabLst>
                <a:tab pos="166688" algn="l"/>
              </a:tabLst>
            </a:pPr>
            <a:r>
              <a:rPr lang="en-US" dirty="0"/>
              <a:t>John Jumper, Richard Evans, Alexander Pritzel, Tim Green, Michael </a:t>
            </a:r>
            <a:r>
              <a:rPr lang="en-US" dirty="0" err="1"/>
              <a:t>Figurnov</a:t>
            </a:r>
            <a:r>
              <a:rPr lang="en-US" dirty="0"/>
              <a:t>, Olaf </a:t>
            </a:r>
            <a:r>
              <a:rPr lang="en-US" dirty="0" err="1"/>
              <a:t>Ronneberger</a:t>
            </a:r>
            <a:r>
              <a:rPr lang="en-US" dirty="0"/>
              <a:t>, Kathryn </a:t>
            </a:r>
            <a:r>
              <a:rPr lang="en-US" dirty="0" err="1"/>
              <a:t>Tunyasuvunakool</a:t>
            </a:r>
            <a:r>
              <a:rPr lang="en-US" dirty="0"/>
              <a:t>, Russ Bates, Augustin </a:t>
            </a:r>
            <a:r>
              <a:rPr lang="en-US" dirty="0" err="1"/>
              <a:t>Žídek</a:t>
            </a:r>
            <a:r>
              <a:rPr lang="en-US" dirty="0"/>
              <a:t>, Anna Potapenko, Alex </a:t>
            </a:r>
            <a:r>
              <a:rPr lang="en-US" dirty="0" err="1"/>
              <a:t>Bridgland</a:t>
            </a:r>
            <a:r>
              <a:rPr lang="en-US" dirty="0"/>
              <a:t>, Clemens Meyer, Simon A </a:t>
            </a:r>
            <a:r>
              <a:rPr lang="en-US" dirty="0" err="1"/>
              <a:t>A</a:t>
            </a:r>
            <a:r>
              <a:rPr lang="en-US" dirty="0"/>
              <a:t> Kohl, Andrew J Ballard, Andrew Cowie, Bernardino Romera-Paredes, Stanislav Nikolov, </a:t>
            </a:r>
            <a:r>
              <a:rPr lang="en-US" dirty="0" err="1"/>
              <a:t>Rishub</a:t>
            </a:r>
            <a:r>
              <a:rPr lang="en-US" dirty="0"/>
              <a:t> Jain, Jonas Adler, Trevor Back, Stig Petersen, David Reiman, Ellen Clancy, Michal Zielinski, Martin </a:t>
            </a:r>
            <a:r>
              <a:rPr lang="en-US" dirty="0" err="1"/>
              <a:t>Steinegger</a:t>
            </a:r>
            <a:r>
              <a:rPr lang="en-US" dirty="0"/>
              <a:t>, Michalina Pacholska, Tamas Berghammer, Sebastian Bodenstein, David Silver, Oriol </a:t>
            </a:r>
            <a:r>
              <a:rPr lang="en-US" dirty="0" err="1"/>
              <a:t>Vinyals</a:t>
            </a:r>
            <a:r>
              <a:rPr lang="en-US" dirty="0"/>
              <a:t>, Andrew W Senior, Koray </a:t>
            </a:r>
            <a:r>
              <a:rPr lang="en-US" dirty="0" err="1"/>
              <a:t>Kavukcuoglu</a:t>
            </a:r>
            <a:r>
              <a:rPr lang="en-US" dirty="0"/>
              <a:t>, </a:t>
            </a:r>
            <a:r>
              <a:rPr lang="en-US" dirty="0" err="1"/>
              <a:t>Pushmeet</a:t>
            </a:r>
            <a:r>
              <a:rPr lang="en-US" dirty="0"/>
              <a:t> Kohli, and Demis Hassabis. Highly accurate protein structure prediction with AlphaFold. Nature, 596(7873):583–589, August 2021. </a:t>
            </a:r>
            <a:r>
              <a:rPr lang="en-US" dirty="0" err="1"/>
              <a:t>doi</a:t>
            </a:r>
            <a:r>
              <a:rPr lang="en-US" dirty="0"/>
              <a:t>: 10.1038/s41586-021-03819-2. URL https://doi.org/10.1038/s41586-021-03819-2.</a:t>
            </a:r>
          </a:p>
          <a:p>
            <a:pPr marL="234950" indent="-234950">
              <a:spcBef>
                <a:spcPts val="0"/>
              </a:spcBef>
              <a:spcAft>
                <a:spcPts val="400"/>
              </a:spcAft>
              <a:buFont typeface="+mj-lt"/>
              <a:buAutoNum type="arabicPeriod"/>
              <a:tabLst>
                <a:tab pos="166688" algn="l"/>
              </a:tabLst>
            </a:pPr>
            <a:r>
              <a:rPr lang="en-US" dirty="0"/>
              <a:t>M Ashburner, C A Ball, J A Blake, D Botstein, H Butler, J M Cherry, A P Davis, K Dolinski, S </a:t>
            </a:r>
            <a:r>
              <a:rPr lang="en-US" dirty="0" err="1"/>
              <a:t>S</a:t>
            </a:r>
            <a:r>
              <a:rPr lang="en-US" dirty="0"/>
              <a:t> Dwight, J T Eppig, M A Harris, D P Hill, L Issel-Tarver, A </a:t>
            </a:r>
            <a:r>
              <a:rPr lang="en-US" dirty="0" err="1"/>
              <a:t>Kasarskis</a:t>
            </a:r>
            <a:r>
              <a:rPr lang="en-US" dirty="0"/>
              <a:t>, S Lewis, J C </a:t>
            </a:r>
            <a:r>
              <a:rPr lang="en-US" dirty="0" err="1"/>
              <a:t>Matese</a:t>
            </a:r>
            <a:r>
              <a:rPr lang="en-US" dirty="0"/>
              <a:t>, J E Richardson, M Ringwald, G M Rubin, and G Sherlock. Gene ontology: tool for the unification of biology. the gene ontology consortium. Nat Genet, 25(1):25–29, May 2000.</a:t>
            </a:r>
          </a:p>
          <a:p>
            <a:pPr marL="234950" indent="-234950">
              <a:spcBef>
                <a:spcPts val="0"/>
              </a:spcBef>
              <a:spcAft>
                <a:spcPts val="400"/>
              </a:spcAft>
              <a:buFont typeface="+mj-lt"/>
              <a:buAutoNum type="arabicPeriod"/>
              <a:tabLst>
                <a:tab pos="166688" algn="l"/>
              </a:tabLst>
            </a:pPr>
            <a:r>
              <a:rPr lang="en-US" dirty="0"/>
              <a:t>The Gene Ontology Consortium, Suzi A Aleksander, James Balhoff, Seth Carbon, J Michael Cherry, Harold J Drabkin, Dustin Ebert, Marc Feuermann, Pascale Gaudet, Nomi L Harris, David P Hill, Raymond Lee, </a:t>
            </a:r>
            <a:r>
              <a:rPr lang="en-US" dirty="0" err="1"/>
              <a:t>Huaiyu</a:t>
            </a:r>
            <a:r>
              <a:rPr lang="en-US" dirty="0"/>
              <a:t> Mi, Sierra Moxon, Christopher J Mungall, Anushya </a:t>
            </a:r>
            <a:r>
              <a:rPr lang="en-US" dirty="0" err="1"/>
              <a:t>Muruganugan</a:t>
            </a:r>
            <a:r>
              <a:rPr lang="en-US" dirty="0"/>
              <a:t>, Tremayne </a:t>
            </a:r>
            <a:r>
              <a:rPr lang="en-US" dirty="0" err="1"/>
              <a:t>Mushayahama</a:t>
            </a:r>
            <a:r>
              <a:rPr lang="en-US" dirty="0"/>
              <a:t>, Paul W Sternberg, Paul D Thomas, Kimberly Van Auken, Jolene Ramsey, Deborah A Siegele, Rex L Chisholm, Petra Fey, Maria Cristina Aspromonte, Maria Victoria </a:t>
            </a:r>
            <a:r>
              <a:rPr lang="en-US" dirty="0" err="1"/>
              <a:t>Nugnes</a:t>
            </a:r>
            <a:r>
              <a:rPr lang="en-US" dirty="0"/>
              <a:t>, Federica Quaglia, Silvio </a:t>
            </a:r>
            <a:r>
              <a:rPr lang="en-US" dirty="0" err="1"/>
              <a:t>Tosatto</a:t>
            </a:r>
            <a:r>
              <a:rPr lang="en-US" dirty="0"/>
              <a:t>, Michelle Giglio, Suvarna </a:t>
            </a:r>
            <a:r>
              <a:rPr lang="en-US" dirty="0" err="1"/>
              <a:t>Nadendla</a:t>
            </a:r>
            <a:r>
              <a:rPr lang="en-US" dirty="0"/>
              <a:t>, Giulia </a:t>
            </a:r>
            <a:r>
              <a:rPr lang="en-US" dirty="0" err="1"/>
              <a:t>Antonazzo</a:t>
            </a:r>
            <a:r>
              <a:rPr lang="en-US" dirty="0"/>
              <a:t>, Helen Attrill, Gil dos Santos, Steven Marygold, Victor Strelets, Christopher J Tabone, Jim Thurmond, Pinglei Zhou, Saadullah H Ahmed, </a:t>
            </a:r>
            <a:r>
              <a:rPr lang="en-US" dirty="0" err="1"/>
              <a:t>Praoparn</a:t>
            </a:r>
            <a:r>
              <a:rPr lang="en-US" dirty="0"/>
              <a:t> </a:t>
            </a:r>
            <a:r>
              <a:rPr lang="en-US" dirty="0" err="1"/>
              <a:t>Asanitthong</a:t>
            </a:r>
            <a:r>
              <a:rPr lang="en-US" dirty="0"/>
              <a:t>, Diana Luna Buitrago, Meltem N </a:t>
            </a:r>
            <a:r>
              <a:rPr lang="en-US" dirty="0" err="1"/>
              <a:t>Erdol</a:t>
            </a:r>
            <a:r>
              <a:rPr lang="en-US" dirty="0"/>
              <a:t>, Matthew C Gage, Mohamed Ali Kadhum, Kan Yan Chloe Li, Miao Long, Aleksandra Michalak, Angeline Pesala, </a:t>
            </a:r>
            <a:r>
              <a:rPr lang="en-US" dirty="0" err="1"/>
              <a:t>Armalya</a:t>
            </a:r>
            <a:r>
              <a:rPr lang="en-US" dirty="0"/>
              <a:t> </a:t>
            </a:r>
            <a:r>
              <a:rPr lang="en-US" dirty="0" err="1"/>
              <a:t>Pritazahra</a:t>
            </a:r>
            <a:r>
              <a:rPr lang="en-US" dirty="0"/>
              <a:t>, Shirin C </a:t>
            </a:r>
            <a:r>
              <a:rPr lang="en-US" dirty="0" err="1"/>
              <a:t>C</a:t>
            </a:r>
            <a:r>
              <a:rPr lang="en-US" dirty="0"/>
              <a:t> </a:t>
            </a:r>
            <a:r>
              <a:rPr lang="en-US" dirty="0" err="1"/>
              <a:t>Saverimuttu</a:t>
            </a:r>
            <a:r>
              <a:rPr lang="en-US" dirty="0"/>
              <a:t>, Renzhi Su, Kate E Thurlow, Ruth C Lovering, Colin </a:t>
            </a:r>
            <a:r>
              <a:rPr lang="en-US" dirty="0" err="1"/>
              <a:t>Logie</a:t>
            </a:r>
            <a:r>
              <a:rPr lang="en-US" dirty="0"/>
              <a:t>, Snezhana </a:t>
            </a:r>
            <a:r>
              <a:rPr lang="en-US" dirty="0" err="1"/>
              <a:t>Oliferenko</a:t>
            </a:r>
            <a:r>
              <a:rPr lang="en-US" dirty="0"/>
              <a:t>, Judith Blake, Karen Christie, Lori </a:t>
            </a:r>
            <a:r>
              <a:rPr lang="en-US" dirty="0" err="1"/>
              <a:t>Corbani</a:t>
            </a:r>
            <a:r>
              <a:rPr lang="en-US" dirty="0"/>
              <a:t>, Mary E Dolan, Harold J Drabkin, David P Hill, Li Ni, Dmitry Sitnikov, Cynthia Smith, Alayne Cuzick, James Seager, Laurel Cooper, Justin Elser, Pankaj Jaiswal, Parul Gupta, Pankaj Jaiswal, Sushma Naithani, Manuel Lera-Ramirez, Kim Rutherford, Valerie Wood, Jeffrey L De Pons, Melinda R Dwinell, G Thomas Hayman, Mary L </a:t>
            </a:r>
            <a:r>
              <a:rPr lang="en-US" dirty="0" err="1"/>
              <a:t>Kaldunski</a:t>
            </a:r>
            <a:r>
              <a:rPr lang="en-US" dirty="0"/>
              <a:t>, Anne E </a:t>
            </a:r>
            <a:r>
              <a:rPr lang="en-US" dirty="0" err="1"/>
              <a:t>Kwitek</a:t>
            </a:r>
            <a:r>
              <a:rPr lang="en-US" dirty="0"/>
              <a:t>, Stanley J F </a:t>
            </a:r>
            <a:r>
              <a:rPr lang="en-US" dirty="0" err="1"/>
              <a:t>Laulederkind</a:t>
            </a:r>
            <a:r>
              <a:rPr lang="en-US" dirty="0"/>
              <a:t>, Marek A Tutaj, Mahima Vedi, Shur-Jen Wang, Peter </a:t>
            </a:r>
            <a:r>
              <a:rPr lang="en-US" dirty="0" err="1"/>
              <a:t>D’Eustachio</a:t>
            </a:r>
            <a:r>
              <a:rPr lang="en-US" dirty="0"/>
              <a:t>, Lucila Aimo, Kristian Axelsen, Alan Bridge, Nevila Hyka-</a:t>
            </a:r>
            <a:r>
              <a:rPr lang="en-US" dirty="0" err="1"/>
              <a:t>Nouspikel</a:t>
            </a:r>
            <a:r>
              <a:rPr lang="en-US" dirty="0"/>
              <a:t>, Anne </a:t>
            </a:r>
            <a:r>
              <a:rPr lang="en-US" dirty="0" err="1"/>
              <a:t>Morgat</a:t>
            </a:r>
            <a:r>
              <a:rPr lang="en-US" dirty="0"/>
              <a:t>, Suzi A Aleksander, J Michael Cherry, Stacia R Engel, Kalpana Karra, Stuart R Miyasato, Robert S Nash, Marek S Skrzypek, Shuai Weng, Edith D Wong, Erika Bakker, Tanya Z Berardini, Leonore Reiser, Andrea Auchincloss, Kristian Axelsen, Ghislaine </a:t>
            </a:r>
            <a:r>
              <a:rPr lang="en-US" dirty="0" err="1"/>
              <a:t>Argoud</a:t>
            </a:r>
            <a:r>
              <a:rPr lang="en-US" dirty="0"/>
              <a:t>-Puy, Marie-Claude Blatter, Emmanuel Boutet, Lionel </a:t>
            </a:r>
            <a:r>
              <a:rPr lang="en-US" dirty="0" err="1"/>
              <a:t>Breuza</a:t>
            </a:r>
            <a:r>
              <a:rPr lang="en-US" dirty="0"/>
              <a:t>, Alan Bridge, Cristina Casals-Casas, Elisabeth Coudert, Anne Estreicher, Maria Livia Famiglietti, Marc Feuermann, Arnaud </a:t>
            </a:r>
            <a:r>
              <a:rPr lang="en-US" dirty="0" err="1"/>
              <a:t>Gos</a:t>
            </a:r>
            <a:r>
              <a:rPr lang="en-US" dirty="0"/>
              <a:t>, Nadine </a:t>
            </a:r>
            <a:r>
              <a:rPr lang="en-US" dirty="0" err="1"/>
              <a:t>Gruaz-Gumowski</a:t>
            </a:r>
            <a:r>
              <a:rPr lang="en-US" dirty="0"/>
              <a:t>, Chantal Hulo, Nevila Hyka-</a:t>
            </a:r>
            <a:r>
              <a:rPr lang="en-US" dirty="0" err="1"/>
              <a:t>Nouspikel</a:t>
            </a:r>
            <a:r>
              <a:rPr lang="en-US" dirty="0"/>
              <a:t>, Florence Jungo, Philippe Le Mercier, Damien </a:t>
            </a:r>
            <a:r>
              <a:rPr lang="en-US" dirty="0" err="1"/>
              <a:t>Lieberherr</a:t>
            </a:r>
            <a:r>
              <a:rPr lang="en-US" dirty="0"/>
              <a:t>, Patrick Masson, Anne </a:t>
            </a:r>
            <a:r>
              <a:rPr lang="en-US" dirty="0" err="1"/>
              <a:t>Morgat</a:t>
            </a:r>
            <a:r>
              <a:rPr lang="en-US" dirty="0"/>
              <a:t>, Ivo </a:t>
            </a:r>
            <a:r>
              <a:rPr lang="en-US" dirty="0" err="1"/>
              <a:t>Pedruzzi</a:t>
            </a:r>
            <a:r>
              <a:rPr lang="en-US" dirty="0"/>
              <a:t>, Lucille </a:t>
            </a:r>
            <a:r>
              <a:rPr lang="en-US" dirty="0" err="1"/>
              <a:t>Pourcel</a:t>
            </a:r>
            <a:r>
              <a:rPr lang="en-US" dirty="0"/>
              <a:t>, Sylvain Poux, Catherine Rivoire, Shyamala Sundaram, Alex Bateman, Emily Bowler-Barnett, Hema Bye-A-Jee, Paul Denny, Alexandr </a:t>
            </a:r>
            <a:r>
              <a:rPr lang="en-US" dirty="0" err="1"/>
              <a:t>Ignatchenko</a:t>
            </a:r>
            <a:r>
              <a:rPr lang="en-US" dirty="0"/>
              <a:t>, Rizwan Ishtiaq, Antonia Lock, Yvonne Lussi, Michele Magrane, Maria J Martin, Sandra Orchard, Pedro Raposo, Elena </a:t>
            </a:r>
            <a:r>
              <a:rPr lang="en-US" dirty="0" err="1"/>
              <a:t>Speretta</a:t>
            </a:r>
            <a:r>
              <a:rPr lang="en-US" dirty="0"/>
              <a:t>, Nidhi Tyagi, Kate Warner, Rossana Zaru, Alexander D Diehl, Raymond Lee, Juancarlos Chan, Stavros </a:t>
            </a:r>
            <a:r>
              <a:rPr lang="en-US" dirty="0" err="1"/>
              <a:t>Diamantakis</a:t>
            </a:r>
            <a:r>
              <a:rPr lang="en-US" dirty="0"/>
              <a:t>, Daniela Raciti, Magdalena </a:t>
            </a:r>
            <a:r>
              <a:rPr lang="en-US" dirty="0" err="1"/>
              <a:t>Zarowiecki</a:t>
            </a:r>
            <a:r>
              <a:rPr lang="en-US" dirty="0"/>
              <a:t>, Malcolm Fisher, Christina James-Zorn, Virgilio Ponferrada, Aaron Zorn, Sridhar Ramachandran, Leyla Ruzicka, and Monte </a:t>
            </a:r>
            <a:r>
              <a:rPr lang="en-US" dirty="0" err="1"/>
              <a:t>Westerfield</a:t>
            </a:r>
            <a:r>
              <a:rPr lang="en-US" dirty="0"/>
              <a:t>. The gene ontology knowledgebase in 2023. Genetics, 224(1):iyad031, 03 2023. ISSN 1943-2631. </a:t>
            </a:r>
            <a:r>
              <a:rPr lang="en-US" dirty="0" err="1"/>
              <a:t>doi</a:t>
            </a:r>
            <a:r>
              <a:rPr lang="en-US" dirty="0"/>
              <a:t>: 10.1093/genetics/iyad031. URL https://doi.org/10.1093/genetics/iyad031.</a:t>
            </a:r>
          </a:p>
          <a:p>
            <a:pPr marL="234950" indent="-234950">
              <a:spcBef>
                <a:spcPts val="0"/>
              </a:spcBef>
              <a:spcAft>
                <a:spcPts val="400"/>
              </a:spcAft>
              <a:buFont typeface="+mj-lt"/>
              <a:buAutoNum type="arabicPeriod"/>
              <a:tabLst>
                <a:tab pos="166688" algn="l"/>
              </a:tabLst>
            </a:pPr>
            <a:r>
              <a:rPr lang="en-US" dirty="0"/>
              <a:t>Michael E </a:t>
            </a:r>
            <a:r>
              <a:rPr lang="en-US" dirty="0" err="1"/>
              <a:t>Burczynski</a:t>
            </a:r>
            <a:r>
              <a:rPr lang="en-US" dirty="0"/>
              <a:t>, Ron L Peterson, Natalie C Twine, Krystyna A </a:t>
            </a:r>
            <a:r>
              <a:rPr lang="en-US" dirty="0" err="1"/>
              <a:t>Zuberek</a:t>
            </a:r>
            <a:r>
              <a:rPr lang="en-US" dirty="0"/>
              <a:t>, Brendan J Brodeur, Lori Casciotti, Vasu Maganti, Padma S Reddy, Andrew Strahs, Fred Immermann, Walter Spinelli, Ulrich </a:t>
            </a:r>
            <a:r>
              <a:rPr lang="en-US" dirty="0" err="1"/>
              <a:t>Schwertschlag</a:t>
            </a:r>
            <a:r>
              <a:rPr lang="en-US" dirty="0"/>
              <a:t>, Anna M Slager, Monette M Cotreau, and Andrew J Dorner. Molecular classification of </a:t>
            </a:r>
            <a:r>
              <a:rPr lang="en-US" dirty="0" err="1"/>
              <a:t>crohn’s</a:t>
            </a:r>
            <a:r>
              <a:rPr lang="en-US" dirty="0"/>
              <a:t> disease and ulcerative colitis patients using transcriptional profiles in peripheral blood mononuclear cells. J Mol </a:t>
            </a:r>
            <a:r>
              <a:rPr lang="en-US" dirty="0" err="1"/>
              <a:t>Diagn</a:t>
            </a:r>
            <a:r>
              <a:rPr lang="en-US" dirty="0"/>
              <a:t>, 8(1):51–61, February 2006.</a:t>
            </a:r>
          </a:p>
          <a:p>
            <a:pPr marL="234950" indent="-234950">
              <a:spcBef>
                <a:spcPts val="0"/>
              </a:spcBef>
              <a:spcAft>
                <a:spcPts val="400"/>
              </a:spcAft>
              <a:buFont typeface="+mj-lt"/>
              <a:buAutoNum type="arabicPeriod"/>
              <a:tabLst>
                <a:tab pos="166688" algn="l"/>
              </a:tabLst>
            </a:pPr>
            <a:r>
              <a:rPr lang="en-US" dirty="0"/>
              <a:t>Mitch Raponi, Yi Zhang, Jack Yu, Guoan Chen, Grace Lee, Jeremy M G Taylor, James Macdonald, Dafydd Thomas, Christopher Moskaluk, Yixin Wang, and David G Beer. Gene expression signatures for predicting prognosis of squamous cell and adenocarcinomas of the lung. Cancer Res, 66(15):7466–7472, August 2006.</a:t>
            </a:r>
          </a:p>
          <a:p>
            <a:pPr marL="234950" indent="-234950">
              <a:spcBef>
                <a:spcPts val="0"/>
              </a:spcBef>
              <a:spcAft>
                <a:spcPts val="400"/>
              </a:spcAft>
              <a:buFont typeface="+mj-lt"/>
              <a:buAutoNum type="arabicPeriod"/>
              <a:tabLst>
                <a:tab pos="166688" algn="l"/>
              </a:tabLst>
            </a:pPr>
            <a:r>
              <a:rPr lang="en-US" dirty="0"/>
              <a:t>Adam M Gustafson, Raffaella Soldi, Christina </a:t>
            </a:r>
            <a:r>
              <a:rPr lang="en-US" dirty="0" err="1"/>
              <a:t>Anderlind</a:t>
            </a:r>
            <a:r>
              <a:rPr lang="en-US" dirty="0"/>
              <a:t>, Mary Beth Scholand, Jun Qian, Xiaohui Zhang, Kendal Cooper, Darren Walker, Annette McWilliams, Gang Liu, Eva Szabo, Jerome Brody, Pierre P </a:t>
            </a:r>
            <a:r>
              <a:rPr lang="en-US" dirty="0" err="1"/>
              <a:t>Massion</a:t>
            </a:r>
            <a:r>
              <a:rPr lang="en-US" dirty="0"/>
              <a:t>, Marc E </a:t>
            </a:r>
            <a:r>
              <a:rPr lang="en-US" dirty="0" err="1"/>
              <a:t>Lenburg</a:t>
            </a:r>
            <a:r>
              <a:rPr lang="en-US" dirty="0"/>
              <a:t>, Stephen Lam, Andrea H Bild, and Avrum Spira. Airway PI3K pathway activation is an early and reversible event in lung cancer development. Sci </a:t>
            </a:r>
            <a:r>
              <a:rPr lang="en-US" dirty="0" err="1"/>
              <a:t>Transl</a:t>
            </a:r>
            <a:r>
              <a:rPr lang="en-US" dirty="0"/>
              <a:t> Med, 2(26):26ra25, April 2010.</a:t>
            </a:r>
          </a:p>
          <a:p>
            <a:pPr marL="234950" indent="-234950">
              <a:spcBef>
                <a:spcPts val="0"/>
              </a:spcBef>
              <a:spcAft>
                <a:spcPts val="400"/>
              </a:spcAft>
              <a:buFont typeface="+mj-lt"/>
              <a:buAutoNum type="arabicPeriod"/>
              <a:tabLst>
                <a:tab pos="166688" algn="l"/>
              </a:tabLst>
            </a:pPr>
            <a:r>
              <a:rPr lang="en-US" dirty="0"/>
              <a:t>Petra </a:t>
            </a:r>
            <a:r>
              <a:rPr lang="en-US" dirty="0" err="1"/>
              <a:t>Gorombei</a:t>
            </a:r>
            <a:r>
              <a:rPr lang="en-US" dirty="0"/>
              <a:t>, Fabien </a:t>
            </a:r>
            <a:r>
              <a:rPr lang="en-US" dirty="0" err="1"/>
              <a:t>Guidez</a:t>
            </a:r>
            <a:r>
              <a:rPr lang="en-US" dirty="0"/>
              <a:t>, Saravanan Ganesan, Mathieu </a:t>
            </a:r>
            <a:r>
              <a:rPr lang="en-US" dirty="0" err="1"/>
              <a:t>Chiquet</a:t>
            </a:r>
            <a:r>
              <a:rPr lang="en-US" dirty="0"/>
              <a:t>, Andrea </a:t>
            </a:r>
            <a:r>
              <a:rPr lang="en-US" dirty="0" err="1"/>
              <a:t>Pellagatti</a:t>
            </a:r>
            <a:r>
              <a:rPr lang="en-US" dirty="0"/>
              <a:t>, Laure </a:t>
            </a:r>
            <a:r>
              <a:rPr lang="en-US" dirty="0" err="1"/>
              <a:t>Goursaud</a:t>
            </a:r>
            <a:r>
              <a:rPr lang="en-US" dirty="0"/>
              <a:t>, </a:t>
            </a:r>
            <a:r>
              <a:rPr lang="en-US" dirty="0" err="1"/>
              <a:t>Nilgun</a:t>
            </a:r>
            <a:r>
              <a:rPr lang="en-US" dirty="0"/>
              <a:t> Tekin, Stephanie </a:t>
            </a:r>
            <a:r>
              <a:rPr lang="en-US" dirty="0" err="1"/>
              <a:t>Beurlet</a:t>
            </a:r>
            <a:r>
              <a:rPr lang="en-US" dirty="0"/>
              <a:t>, </a:t>
            </a:r>
            <a:r>
              <a:rPr lang="en-US" dirty="0" err="1"/>
              <a:t>Satyananda</a:t>
            </a:r>
            <a:r>
              <a:rPr lang="en-US" dirty="0"/>
              <a:t> Patel, Laura </a:t>
            </a:r>
            <a:r>
              <a:rPr lang="en-US" dirty="0" err="1"/>
              <a:t>Guerenne</a:t>
            </a:r>
            <a:r>
              <a:rPr lang="en-US" dirty="0"/>
              <a:t>, Carole Le </a:t>
            </a:r>
            <a:r>
              <a:rPr lang="en-US" dirty="0" err="1"/>
              <a:t>Pogam</a:t>
            </a:r>
            <a:r>
              <a:rPr lang="en-US" dirty="0"/>
              <a:t>, Niclas </a:t>
            </a:r>
            <a:r>
              <a:rPr lang="en-US" dirty="0" err="1"/>
              <a:t>Setterblad</a:t>
            </a:r>
            <a:r>
              <a:rPr lang="en-US" dirty="0"/>
              <a:t>, Pierre de la Grange, Christophe LeBoeuf, Anne Janin, Maria-Elena Noguera, Laure Sarda-Mantel, Pascale Merlet, Jacqueline </a:t>
            </a:r>
            <a:r>
              <a:rPr lang="en-US" dirty="0" err="1"/>
              <a:t>Boultwood</a:t>
            </a:r>
            <a:r>
              <a:rPr lang="en-US" dirty="0"/>
              <a:t>, Marina </a:t>
            </a:r>
            <a:r>
              <a:rPr lang="en-US" dirty="0" err="1"/>
              <a:t>Konopleva</a:t>
            </a:r>
            <a:r>
              <a:rPr lang="en-US" dirty="0"/>
              <a:t>, Michael </a:t>
            </a:r>
            <a:r>
              <a:rPr lang="en-US" dirty="0" err="1"/>
              <a:t>Andreeff</a:t>
            </a:r>
            <a:r>
              <a:rPr lang="en-US" dirty="0"/>
              <a:t>, Robert West, Marika Pla, Lionel </a:t>
            </a:r>
            <a:r>
              <a:rPr lang="en-US" dirty="0" err="1"/>
              <a:t>Adès</a:t>
            </a:r>
            <a:r>
              <a:rPr lang="en-US" dirty="0"/>
              <a:t>, Pierre </a:t>
            </a:r>
            <a:r>
              <a:rPr lang="en-US" dirty="0" err="1"/>
              <a:t>Fenaux</a:t>
            </a:r>
            <a:r>
              <a:rPr lang="en-US" dirty="0"/>
              <a:t>, Patricia </a:t>
            </a:r>
            <a:r>
              <a:rPr lang="en-US" dirty="0" err="1"/>
              <a:t>Krief</a:t>
            </a:r>
            <a:r>
              <a:rPr lang="en-US" dirty="0"/>
              <a:t>, Christine </a:t>
            </a:r>
            <a:r>
              <a:rPr lang="en-US" dirty="0" err="1"/>
              <a:t>Chomienne</a:t>
            </a:r>
            <a:r>
              <a:rPr lang="en-US" dirty="0"/>
              <a:t>, Nader Omidvar, and Rose Ann Padua. BCL-2 inhibitor ABT-737 effectively targets leukemia-initiating cells with differential regulation of relevant genes leading to extended survival in a NRAS/BCL-2 mouse model of high risk-myelodysplastic syndrome. Int J Mol Sci, 22(19):10658, September 2021.</a:t>
            </a:r>
          </a:p>
          <a:p>
            <a:pPr marL="234950" indent="-234950">
              <a:spcBef>
                <a:spcPts val="0"/>
              </a:spcBef>
              <a:spcAft>
                <a:spcPts val="400"/>
              </a:spcAft>
              <a:buFont typeface="+mj-lt"/>
              <a:buAutoNum type="arabicPeriod"/>
              <a:tabLst>
                <a:tab pos="166688" algn="l"/>
              </a:tabLst>
            </a:pPr>
            <a:r>
              <a:rPr lang="en-US" dirty="0"/>
              <a:t>Lüder Hinrich Meyer, Sarah Mirjam Eckhoff, Manon </a:t>
            </a:r>
            <a:r>
              <a:rPr lang="en-US" dirty="0" err="1"/>
              <a:t>Queudeville</a:t>
            </a:r>
            <a:r>
              <a:rPr lang="en-US" dirty="0"/>
              <a:t>, Johann Michael Kraus, Marco Giordan, Jana </a:t>
            </a:r>
            <a:r>
              <a:rPr lang="en-US" dirty="0" err="1"/>
              <a:t>Stursberg</a:t>
            </a:r>
            <a:r>
              <a:rPr lang="en-US" dirty="0"/>
              <a:t>, Andrea Zangrando, Elena </a:t>
            </a:r>
            <a:r>
              <a:rPr lang="en-US" dirty="0" err="1"/>
              <a:t>Vendramini</a:t>
            </a:r>
            <a:r>
              <a:rPr lang="en-US" dirty="0"/>
              <a:t>, Anja </a:t>
            </a:r>
            <a:r>
              <a:rPr lang="en-US" dirty="0" err="1"/>
              <a:t>Möricke</a:t>
            </a:r>
            <a:r>
              <a:rPr lang="en-US" dirty="0"/>
              <a:t>, Martin Zimmermann, Andre Schrauder, Georgia Lahr, Karlheinz Holzmann, Martin </a:t>
            </a:r>
            <a:r>
              <a:rPr lang="en-US" dirty="0" err="1"/>
              <a:t>Schrappe</a:t>
            </a:r>
            <a:r>
              <a:rPr lang="en-US" dirty="0"/>
              <a:t>, Giuseppe Basso, Karsten Stahnke, Hans Armin Kestler, </a:t>
            </a:r>
            <a:r>
              <a:rPr lang="en-US" dirty="0" err="1"/>
              <a:t>Geertruy</a:t>
            </a:r>
            <a:r>
              <a:rPr lang="en-US" dirty="0"/>
              <a:t> </a:t>
            </a:r>
            <a:r>
              <a:rPr lang="en-US" dirty="0" err="1"/>
              <a:t>Te</a:t>
            </a:r>
            <a:r>
              <a:rPr lang="en-US" dirty="0"/>
              <a:t> </a:t>
            </a:r>
            <a:r>
              <a:rPr lang="en-US" dirty="0" err="1"/>
              <a:t>Kronnie</a:t>
            </a:r>
            <a:r>
              <a:rPr lang="en-US" dirty="0"/>
              <a:t>, and Klaus- Michael </a:t>
            </a:r>
            <a:r>
              <a:rPr lang="en-US" dirty="0" err="1"/>
              <a:t>Debatin</a:t>
            </a:r>
            <a:r>
              <a:rPr lang="en-US" dirty="0"/>
              <a:t>. Early relapse in ALL is identified by time to leukemia in NOD/SCID mice and is characterized by a gene signature involving survival pathways. Cancer Cell, 19(2): 206–217, February 2011.</a:t>
            </a:r>
          </a:p>
          <a:p>
            <a:pPr marL="234950" indent="-234950">
              <a:spcBef>
                <a:spcPts val="0"/>
              </a:spcBef>
              <a:spcAft>
                <a:spcPts val="400"/>
              </a:spcAft>
              <a:buFont typeface="+mj-lt"/>
              <a:buAutoNum type="arabicPeriod"/>
              <a:tabLst>
                <a:tab pos="166688" algn="l"/>
              </a:tabLst>
            </a:pPr>
            <a:r>
              <a:rPr lang="en-US" dirty="0"/>
              <a:t>Caryn G Morse, Joachim G Voss, Goran Rakocevic, Mary McLaughlin, Carol L Vinton, Charles Huber, Xiaojun Hu, Jun Yang, Da Wei Huang, Carolea Logun, Robert L Danner, Zoila G Rangel, Peter J Munson, Jan M Orenstein, Elisabeth J Rushing, Richard A Lempicki, Marinos C </a:t>
            </a:r>
            <a:r>
              <a:rPr lang="en-US" dirty="0" err="1"/>
              <a:t>Dalakas</a:t>
            </a:r>
            <a:r>
              <a:rPr lang="en-US" dirty="0"/>
              <a:t>, and Joseph A Kovacs. HIV infection and antiretroviral therapy have divergent effects on mitochondria in adipose tissue. J Infect Dis, 205(12):1778–1787, June 2012.</a:t>
            </a:r>
          </a:p>
          <a:p>
            <a:pPr marL="234950" indent="-234950">
              <a:spcBef>
                <a:spcPts val="0"/>
              </a:spcBef>
              <a:spcAft>
                <a:spcPts val="400"/>
              </a:spcAft>
              <a:buFont typeface="+mj-lt"/>
              <a:buAutoNum type="arabicPeriod"/>
              <a:tabLst>
                <a:tab pos="166688" algn="l"/>
              </a:tabLst>
            </a:pPr>
            <a:r>
              <a:rPr lang="en-US" dirty="0"/>
              <a:t>Claas H Hinze, </a:t>
            </a:r>
            <a:r>
              <a:rPr lang="en-US" dirty="0" err="1"/>
              <a:t>Ndate</a:t>
            </a:r>
            <a:r>
              <a:rPr lang="en-US" dirty="0"/>
              <a:t> Fall, Sherry Thornton, Jun Q Mo, Bruce J Aronow, Gerlinde </a:t>
            </a:r>
            <a:r>
              <a:rPr lang="en-US" dirty="0" err="1"/>
              <a:t>Layh</a:t>
            </a:r>
            <a:r>
              <a:rPr lang="en-US" dirty="0"/>
              <a:t>-Schmitt, Thomas A Griffin, Susan D Thompson, Robert A Colbert, David N Glass, Michael G Barnes, and Alexei A Grom. Immature cell populations and an erythropoiesis gene-expression signature in systemic juvenile idiopathic arthritis: implications for pathogenesis. Arthritis Res Ther, 12(3):R123, June 2010.</a:t>
            </a:r>
          </a:p>
        </p:txBody>
      </p:sp>
    </p:spTree>
    <p:extLst>
      <p:ext uri="{BB962C8B-B14F-4D97-AF65-F5344CB8AC3E}">
        <p14:creationId xmlns:p14="http://schemas.microsoft.com/office/powerpoint/2010/main" val="2347799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104F1-0A4B-972C-D791-51E01C10D814}"/>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31EB362E-4DF2-D65D-B19E-9159C184496F}"/>
              </a:ext>
            </a:extLst>
          </p:cNvPr>
          <p:cNvSpPr>
            <a:spLocks noGrp="1"/>
          </p:cNvSpPr>
          <p:nvPr>
            <p:ph idx="1"/>
          </p:nvPr>
        </p:nvSpPr>
        <p:spPr/>
        <p:txBody>
          <a:bodyPr>
            <a:normAutofit/>
          </a:bodyPr>
          <a:lstStyle/>
          <a:p>
            <a:pPr marL="234950" indent="-234950">
              <a:lnSpc>
                <a:spcPct val="70000"/>
              </a:lnSpc>
              <a:spcBef>
                <a:spcPts val="0"/>
              </a:spcBef>
              <a:spcAft>
                <a:spcPts val="400"/>
              </a:spcAft>
              <a:buFont typeface="+mj-lt"/>
              <a:buAutoNum type="arabicPeriod" startAt="13"/>
            </a:pPr>
            <a:r>
              <a:rPr lang="en-US" sz="900" dirty="0"/>
              <a:t>Guido Reifenberger, Ruthild G Weber, Vera </a:t>
            </a:r>
            <a:r>
              <a:rPr lang="en-US" sz="900" dirty="0" err="1"/>
              <a:t>Riehmer</a:t>
            </a:r>
            <a:r>
              <a:rPr lang="en-US" sz="900" dirty="0"/>
              <a:t>, Kerstin Kaulich, Edith </a:t>
            </a:r>
            <a:r>
              <a:rPr lang="en-US" sz="900" dirty="0" err="1"/>
              <a:t>Willscher</a:t>
            </a:r>
            <a:r>
              <a:rPr lang="en-US" sz="900" dirty="0"/>
              <a:t>, Henry Wirth, Jens </a:t>
            </a:r>
            <a:r>
              <a:rPr lang="en-US" sz="900" dirty="0" err="1"/>
              <a:t>Gietzelt</a:t>
            </a:r>
            <a:r>
              <a:rPr lang="en-US" sz="900" dirty="0"/>
              <a:t>, Bettina Hentschel, Manfred Westphal, Matthias Simon, Gabriele </a:t>
            </a:r>
            <a:r>
              <a:rPr lang="en-US" sz="900" dirty="0" err="1"/>
              <a:t>Schackert</a:t>
            </a:r>
            <a:r>
              <a:rPr lang="en-US" sz="900" dirty="0"/>
              <a:t>, Johannes Schramm, Jakob Matschke, Michael C Sabel, Dorothee </a:t>
            </a:r>
            <a:r>
              <a:rPr lang="en-US" sz="900" dirty="0" err="1"/>
              <a:t>Gramatzki</a:t>
            </a:r>
            <a:r>
              <a:rPr lang="en-US" sz="900" dirty="0"/>
              <a:t>, Jörg </a:t>
            </a:r>
            <a:r>
              <a:rPr lang="en-US" sz="900" dirty="0" err="1"/>
              <a:t>Felsberg</a:t>
            </a:r>
            <a:r>
              <a:rPr lang="en-US" sz="900" dirty="0"/>
              <a:t>, Christian Hartmann, Joachim P Steinbach, Uwe Schlegel, Wolfgang Wick, Bernhard </a:t>
            </a:r>
            <a:r>
              <a:rPr lang="en-US" sz="900" dirty="0" err="1"/>
              <a:t>Radlwimmer</a:t>
            </a:r>
            <a:r>
              <a:rPr lang="en-US" sz="900" dirty="0"/>
              <a:t>, Torsten Pietsch, Jörg C Tonn, Andreas von Deimling, Hans Binder, Michael Weller, Markus Loeffler, and German Glioma Network. Molecular characterization of long-term survivors of glioblastoma using genome- and transcriptome-wide profiling. Int J Cancer, 135(8):1822–1831, October 2014.</a:t>
            </a:r>
          </a:p>
          <a:p>
            <a:pPr marL="234950" indent="-234950">
              <a:lnSpc>
                <a:spcPct val="70000"/>
              </a:lnSpc>
              <a:spcBef>
                <a:spcPts val="0"/>
              </a:spcBef>
              <a:spcAft>
                <a:spcPts val="400"/>
              </a:spcAft>
              <a:buFont typeface="+mj-lt"/>
              <a:buAutoNum type="arabicPeriod" startAt="13"/>
            </a:pPr>
            <a:r>
              <a:rPr lang="en-US" sz="900" dirty="0"/>
              <a:t>Nataly </a:t>
            </a:r>
            <a:r>
              <a:rPr lang="en-US" sz="900" dirty="0" err="1"/>
              <a:t>Strunnikova</a:t>
            </a:r>
            <a:r>
              <a:rPr lang="en-US" sz="900" dirty="0"/>
              <a:t>, Sara Hilmer, Jessica Flippin, Michael Robinson, Eric Hoffman, and Karl G </a:t>
            </a:r>
            <a:r>
              <a:rPr lang="en-US" sz="900" dirty="0" err="1"/>
              <a:t>Csaky</a:t>
            </a:r>
            <a:r>
              <a:rPr lang="en-US" sz="900" dirty="0"/>
              <a:t>. Differences in gene expression profiles in dermal fibroblasts from control and patients with age-related macular degeneration elicited by oxidative injury. Free Radic Biol Med, 39(6): 781–796, September 2005.</a:t>
            </a:r>
          </a:p>
          <a:p>
            <a:pPr marL="234950" indent="-234950">
              <a:lnSpc>
                <a:spcPct val="70000"/>
              </a:lnSpc>
              <a:spcBef>
                <a:spcPts val="0"/>
              </a:spcBef>
              <a:spcAft>
                <a:spcPts val="400"/>
              </a:spcAft>
              <a:buFont typeface="+mj-lt"/>
              <a:buAutoNum type="arabicPeriod" startAt="13"/>
            </a:pPr>
            <a:r>
              <a:rPr lang="en-US" sz="900" dirty="0"/>
              <a:t>Images taken from </a:t>
            </a:r>
            <a:r>
              <a:rPr lang="en-US" sz="900" dirty="0" err="1"/>
              <a:t>BioRender</a:t>
            </a:r>
            <a:r>
              <a:rPr lang="en-US" sz="900" dirty="0"/>
              <a:t>. https://biorender.com. </a:t>
            </a:r>
          </a:p>
          <a:p>
            <a:pPr marL="228600" indent="-228600">
              <a:lnSpc>
                <a:spcPct val="70000"/>
              </a:lnSpc>
              <a:spcBef>
                <a:spcPts val="0"/>
              </a:spcBef>
              <a:spcAft>
                <a:spcPts val="400"/>
              </a:spcAft>
              <a:buFont typeface="+mj-lt"/>
              <a:buAutoNum type="arabicPeriod" startAt="16"/>
            </a:pPr>
            <a:r>
              <a:rPr lang="en-US" sz="900" dirty="0"/>
              <a:t>Jocelyn Krebs, Elliott Goldstein, and Stephen Kilpatrick. Lewin’s Genes XII. Jones &amp; Bartlett Learning, 5 Wall Street, Burlington, MA 01803, 12 edition, 2018. ISBN 9781284104493.</a:t>
            </a:r>
          </a:p>
          <a:p>
            <a:pPr marL="228600" indent="-228600">
              <a:lnSpc>
                <a:spcPct val="70000"/>
              </a:lnSpc>
              <a:spcBef>
                <a:spcPts val="0"/>
              </a:spcBef>
              <a:spcAft>
                <a:spcPts val="400"/>
              </a:spcAft>
              <a:buFont typeface="+mj-lt"/>
              <a:buAutoNum type="arabicPeriod" startAt="16"/>
            </a:pPr>
            <a:r>
              <a:rPr lang="en-US" sz="900" dirty="0"/>
              <a:t>Zhong Wang, Mark Gerstein, and Michael Snyder. RNA-Seq: a revolutionary tool for transcriptomics. Nat Rev Genet, 10(1):57–63, January 2009. </a:t>
            </a:r>
            <a:r>
              <a:rPr lang="en-US" sz="900" dirty="0" err="1"/>
              <a:t>doi</a:t>
            </a:r>
            <a:r>
              <a:rPr lang="en-US" sz="900" dirty="0"/>
              <a:t>: 10.1038/nrg2484. URL https://doi.org/10.1038/nrg2484.</a:t>
            </a:r>
          </a:p>
          <a:p>
            <a:pPr marL="228600" indent="-228600">
              <a:lnSpc>
                <a:spcPct val="70000"/>
              </a:lnSpc>
              <a:spcBef>
                <a:spcPts val="0"/>
              </a:spcBef>
              <a:spcAft>
                <a:spcPts val="400"/>
              </a:spcAft>
              <a:buFont typeface="+mj-lt"/>
              <a:buAutoNum type="arabicPeriod" startAt="16"/>
            </a:pPr>
            <a:r>
              <a:rPr lang="en-US" sz="900" dirty="0"/>
              <a:t>Fuchou Tang, Catalin </a:t>
            </a:r>
            <a:r>
              <a:rPr lang="en-US" sz="900" dirty="0" err="1"/>
              <a:t>Barbacioru</a:t>
            </a:r>
            <a:r>
              <a:rPr lang="en-US" sz="900" dirty="0"/>
              <a:t>, Yangzhou Wang, Ellen Nordman, Clarence Lee, </a:t>
            </a:r>
            <a:r>
              <a:rPr lang="en-US" sz="900" dirty="0" err="1"/>
              <a:t>Nanlan</a:t>
            </a:r>
            <a:r>
              <a:rPr lang="en-US" sz="900" dirty="0"/>
              <a:t> Xu, Xiaohui Wang, John Bodeau, Brian B </a:t>
            </a:r>
            <a:r>
              <a:rPr lang="en-US" sz="900" dirty="0" err="1"/>
              <a:t>Tuch</a:t>
            </a:r>
            <a:r>
              <a:rPr lang="en-US" sz="900" dirty="0"/>
              <a:t>, Asim Siddiqui, </a:t>
            </a:r>
            <a:r>
              <a:rPr lang="en-US" sz="900" dirty="0" err="1"/>
              <a:t>Kaiqin</a:t>
            </a:r>
            <a:r>
              <a:rPr lang="en-US" sz="900" dirty="0"/>
              <a:t> Lao, and M Azim Surani. mRNA-Seq whole-transcriptome analysis of a single cell. Nat Methods, 6(5):377–382, May 2009.</a:t>
            </a:r>
          </a:p>
          <a:p>
            <a:pPr marL="228600" indent="-228600">
              <a:lnSpc>
                <a:spcPct val="70000"/>
              </a:lnSpc>
              <a:spcBef>
                <a:spcPts val="0"/>
              </a:spcBef>
              <a:spcAft>
                <a:spcPts val="400"/>
              </a:spcAft>
              <a:buFont typeface="+mj-lt"/>
              <a:buAutoNum type="arabicPeriod" startAt="16"/>
            </a:pPr>
            <a:r>
              <a:rPr lang="en-US" sz="900" dirty="0"/>
              <a:t>Haotian Cui, Chloe Wang, Hassaan Maan, Kuan Pang, </a:t>
            </a:r>
            <a:r>
              <a:rPr lang="en-US" sz="900" dirty="0" err="1"/>
              <a:t>Fengning</a:t>
            </a:r>
            <a:r>
              <a:rPr lang="en-US" sz="900" dirty="0"/>
              <a:t> Luo, Nan Duan, and Bo Wang. </a:t>
            </a:r>
            <a:r>
              <a:rPr lang="en-US" sz="900" dirty="0" err="1"/>
              <a:t>scGPT</a:t>
            </a:r>
            <a:r>
              <a:rPr lang="en-US" sz="900" dirty="0"/>
              <a:t>: toward building a foundation model for single-cell multi-omics using generative AI. Nat Methods, 21(8):1470–1480, August 2024. </a:t>
            </a:r>
            <a:r>
              <a:rPr lang="en-US" sz="900" dirty="0" err="1"/>
              <a:t>doi</a:t>
            </a:r>
            <a:r>
              <a:rPr lang="en-US" sz="900" dirty="0"/>
              <a:t>: 10.1038/s41592-024-02201-0. URL https://doi.org/10.1038/s41592-024-02201-0.</a:t>
            </a:r>
          </a:p>
          <a:p>
            <a:pPr marL="228600" indent="-228600">
              <a:lnSpc>
                <a:spcPct val="70000"/>
              </a:lnSpc>
              <a:spcBef>
                <a:spcPts val="0"/>
              </a:spcBef>
              <a:spcAft>
                <a:spcPts val="400"/>
              </a:spcAft>
              <a:buFont typeface="+mj-lt"/>
              <a:buAutoNum type="arabicPeriod" startAt="16"/>
            </a:pPr>
            <a:r>
              <a:rPr lang="en-US" sz="900" dirty="0"/>
              <a:t>Shreshth Gandhi, </a:t>
            </a:r>
            <a:r>
              <a:rPr lang="en-US" sz="900" dirty="0" err="1"/>
              <a:t>Farnoosh</a:t>
            </a:r>
            <a:r>
              <a:rPr lang="en-US" sz="900" dirty="0"/>
              <a:t> Javadi, Valentine Svensson, Umair Khan, Matthew G. Jones, Johnny Yu, Daniele Merico, Hani Goodarzi, and Nima </a:t>
            </a:r>
            <a:r>
              <a:rPr lang="en-US" sz="900" dirty="0" err="1"/>
              <a:t>Alidoust</a:t>
            </a:r>
            <a:r>
              <a:rPr lang="en-US" sz="900" dirty="0"/>
              <a:t>. Tahoe-x1: Scaling perturbation-trained single-cell foundation models to 3 billion parameters. </a:t>
            </a:r>
            <a:r>
              <a:rPr lang="en-US" sz="900" dirty="0" err="1"/>
              <a:t>bioRxiv</a:t>
            </a:r>
            <a:r>
              <a:rPr lang="en-US" sz="900" dirty="0"/>
              <a:t>, 2025. </a:t>
            </a:r>
            <a:r>
              <a:rPr lang="en-US" sz="900" dirty="0" err="1"/>
              <a:t>doi</a:t>
            </a:r>
            <a:r>
              <a:rPr lang="en-US" sz="900" dirty="0"/>
              <a:t>: 10.1101/2025.10.23. 683759. URL https://www.biorxiv.org/content/10.1101/2025.10.23.683759v1.</a:t>
            </a:r>
          </a:p>
          <a:p>
            <a:pPr marL="228600" indent="-228600">
              <a:lnSpc>
                <a:spcPct val="70000"/>
              </a:lnSpc>
              <a:spcBef>
                <a:spcPts val="0"/>
              </a:spcBef>
              <a:spcAft>
                <a:spcPts val="400"/>
              </a:spcAft>
              <a:buFont typeface="+mj-lt"/>
              <a:buAutoNum type="arabicPeriod" startAt="16"/>
            </a:pPr>
            <a:r>
              <a:rPr lang="en-US" sz="900" dirty="0" err="1"/>
              <a:t>Zhuoyi</a:t>
            </a:r>
            <a:r>
              <a:rPr lang="en-US" sz="900" dirty="0"/>
              <a:t> Wei Yun Su </a:t>
            </a:r>
            <a:r>
              <a:rPr lang="en-US" sz="900" dirty="0" err="1"/>
              <a:t>Ningyuan</a:t>
            </a:r>
            <a:r>
              <a:rPr lang="en-US" sz="900" dirty="0"/>
              <a:t> Shangguan </a:t>
            </a:r>
            <a:r>
              <a:rPr lang="en-US" sz="900" dirty="0" err="1"/>
              <a:t>Shuangyu</a:t>
            </a:r>
            <a:r>
              <a:rPr lang="en-US" sz="900" dirty="0"/>
              <a:t> Yang </a:t>
            </a:r>
            <a:r>
              <a:rPr lang="en-US" sz="900" dirty="0" err="1"/>
              <a:t>Chengyang</a:t>
            </a:r>
            <a:r>
              <a:rPr lang="en-US" sz="900" dirty="0"/>
              <a:t> Zhang </a:t>
            </a:r>
            <a:r>
              <a:rPr lang="en-US" sz="900" dirty="0" err="1"/>
              <a:t>Wenbing</a:t>
            </a:r>
            <a:r>
              <a:rPr lang="en-US" sz="900" dirty="0"/>
              <a:t> Li Jinbo Zhang Nan Fang Hongyu Zhang Huiying Zhao Yutong Lu Jue Fan </a:t>
            </a:r>
            <a:r>
              <a:rPr lang="en-US" sz="900" dirty="0" err="1"/>
              <a:t>Weijiang</a:t>
            </a:r>
            <a:r>
              <a:rPr lang="en-US" sz="900" dirty="0"/>
              <a:t> Yu </a:t>
            </a:r>
            <a:r>
              <a:rPr lang="en-US" sz="900" dirty="0" err="1"/>
              <a:t>Yuansong</a:t>
            </a:r>
            <a:r>
              <a:rPr lang="en-US" sz="900" dirty="0"/>
              <a:t> Zeng, Jiancong Xie and </a:t>
            </a:r>
            <a:r>
              <a:rPr lang="en-US" sz="900" dirty="0" err="1"/>
              <a:t>Yuedong</a:t>
            </a:r>
            <a:r>
              <a:rPr lang="en-US" sz="900" dirty="0"/>
              <a:t> Yang. </a:t>
            </a:r>
            <a:r>
              <a:rPr lang="en-US" sz="900" dirty="0" err="1"/>
              <a:t>Cellfm</a:t>
            </a:r>
            <a:r>
              <a:rPr lang="en-US" sz="900" dirty="0"/>
              <a:t>: a large-scale foundation model pre-trained on transcriptomics of 100 million human cells. Nat Commun, 16(4679), May 2025. </a:t>
            </a:r>
            <a:r>
              <a:rPr lang="en-US" sz="900" dirty="0" err="1"/>
              <a:t>doi</a:t>
            </a:r>
            <a:r>
              <a:rPr lang="en-US" sz="900" dirty="0"/>
              <a:t>: 10.1038/s41467-025-59926-5. URL https://doi.org/10.1038/s41467-025-59926-5.</a:t>
            </a:r>
          </a:p>
          <a:p>
            <a:pPr marL="228600" indent="-228600">
              <a:lnSpc>
                <a:spcPct val="70000"/>
              </a:lnSpc>
              <a:spcBef>
                <a:spcPts val="0"/>
              </a:spcBef>
              <a:spcAft>
                <a:spcPts val="400"/>
              </a:spcAft>
              <a:buFont typeface="+mj-lt"/>
              <a:buAutoNum type="arabicPeriod" startAt="16"/>
            </a:pPr>
            <a:r>
              <a:rPr lang="en-US" sz="900" dirty="0"/>
              <a:t>Tracy Boakye </a:t>
            </a:r>
            <a:r>
              <a:rPr lang="en-US" sz="900" dirty="0" err="1"/>
              <a:t>Serebour</a:t>
            </a:r>
            <a:r>
              <a:rPr lang="en-US" sz="900" dirty="0"/>
              <a:t>, Adam P. Cribbs, Mathew J. Baldwin, Collen </a:t>
            </a:r>
            <a:r>
              <a:rPr lang="en-US" sz="900" dirty="0" err="1"/>
              <a:t>Masimirembwa</a:t>
            </a:r>
            <a:r>
              <a:rPr lang="en-US" sz="900" dirty="0"/>
              <a:t>, </a:t>
            </a:r>
            <a:r>
              <a:rPr lang="en-US" sz="900" dirty="0" err="1"/>
              <a:t>Zedias</a:t>
            </a:r>
            <a:r>
              <a:rPr lang="en-US" sz="900" dirty="0"/>
              <a:t> </a:t>
            </a:r>
            <a:r>
              <a:rPr lang="en-US" sz="900" dirty="0" err="1"/>
              <a:t>Chikwambi</a:t>
            </a:r>
            <a:r>
              <a:rPr lang="en-US" sz="900" dirty="0"/>
              <a:t>, Angeliki </a:t>
            </a:r>
            <a:r>
              <a:rPr lang="en-US" sz="900" dirty="0" err="1"/>
              <a:t>Kerasidou</a:t>
            </a:r>
            <a:r>
              <a:rPr lang="en-US" sz="900" dirty="0"/>
              <a:t>, and Sarah J. B. Snelling. Overcoming barriers to single-cell </a:t>
            </a:r>
            <a:r>
              <a:rPr lang="en-US" sz="900" dirty="0" err="1"/>
              <a:t>rna</a:t>
            </a:r>
            <a:r>
              <a:rPr lang="en-US" sz="900" dirty="0"/>
              <a:t> sequencing adoption in low- and middle-income countries. </a:t>
            </a:r>
            <a:r>
              <a:rPr lang="en-US" sz="900" dirty="0" err="1"/>
              <a:t>Eur</a:t>
            </a:r>
            <a:r>
              <a:rPr lang="en-US" sz="900" dirty="0"/>
              <a:t> J Hum Genet, 32(10):1206–1213, October 2024. </a:t>
            </a:r>
            <a:r>
              <a:rPr lang="en-US" sz="900" dirty="0" err="1"/>
              <a:t>doi</a:t>
            </a:r>
            <a:r>
              <a:rPr lang="en-US" sz="900" dirty="0"/>
              <a:t>: 10.1038/s41431-024-01564-4. URL https://doi.org/10.1038/s41431-024-01564-4.</a:t>
            </a:r>
          </a:p>
          <a:p>
            <a:pPr marL="228600" indent="-228600">
              <a:lnSpc>
                <a:spcPct val="70000"/>
              </a:lnSpc>
              <a:spcBef>
                <a:spcPts val="0"/>
              </a:spcBef>
              <a:spcAft>
                <a:spcPts val="400"/>
              </a:spcAft>
              <a:buFont typeface="+mj-lt"/>
              <a:buAutoNum type="arabicPeriod" startAt="16"/>
            </a:pPr>
            <a:r>
              <a:rPr lang="en-US" sz="900" dirty="0"/>
              <a:t>Maxence </a:t>
            </a:r>
            <a:r>
              <a:rPr lang="en-US" sz="900" dirty="0" err="1"/>
              <a:t>Gélard</a:t>
            </a:r>
            <a:r>
              <a:rPr lang="en-US" sz="900" dirty="0"/>
              <a:t>, Guillaume Richard, Thomas Pierrot, and Paul-Henry </a:t>
            </a:r>
            <a:r>
              <a:rPr lang="en-US" sz="900" dirty="0" err="1"/>
              <a:t>Cournède</a:t>
            </a:r>
            <a:r>
              <a:rPr lang="en-US" sz="900" dirty="0"/>
              <a:t>. </a:t>
            </a:r>
            <a:r>
              <a:rPr lang="en-US" sz="900" dirty="0" err="1"/>
              <a:t>Bulkrnabert</a:t>
            </a:r>
            <a:r>
              <a:rPr lang="en-US" sz="900" dirty="0"/>
              <a:t>: Cancer prognosis from bulk </a:t>
            </a:r>
            <a:r>
              <a:rPr lang="en-US" sz="900" dirty="0" err="1"/>
              <a:t>rna</a:t>
            </a:r>
            <a:r>
              <a:rPr lang="en-US" sz="900" dirty="0"/>
              <a:t>-seq based language models. In Stefan </a:t>
            </a:r>
            <a:r>
              <a:rPr lang="en-US" sz="900" dirty="0" err="1"/>
              <a:t>Hegselmann</a:t>
            </a:r>
            <a:r>
              <a:rPr lang="en-US" sz="900" dirty="0"/>
              <a:t>, Helen Zhou, Elizabeth Healey, Trenton Chang, Caleb Ellington, </a:t>
            </a:r>
            <a:r>
              <a:rPr lang="en-US" sz="900" dirty="0" err="1"/>
              <a:t>Vishwali</a:t>
            </a:r>
            <a:r>
              <a:rPr lang="en-US" sz="900" dirty="0"/>
              <a:t> </a:t>
            </a:r>
            <a:r>
              <a:rPr lang="en-US" sz="900" dirty="0" err="1"/>
              <a:t>Mhasawade</a:t>
            </a:r>
            <a:r>
              <a:rPr lang="en-US" sz="900" dirty="0"/>
              <a:t>, Sana </a:t>
            </a:r>
            <a:r>
              <a:rPr lang="en-US" sz="900" dirty="0" err="1"/>
              <a:t>Tonekaboni</a:t>
            </a:r>
            <a:r>
              <a:rPr lang="en-US" sz="900" dirty="0"/>
              <a:t>, Peniel Argaw, and Haoran Zhang, editors, Proceedings of the 4th Machine Learning for Health Symposium, volume 259 of Proceedings of Machine Learning Research, pages 384–400. PMLR, 15–16 Dec 2025. URL https://proceedings.mlr.press/v259/gelard25a.html.</a:t>
            </a:r>
          </a:p>
          <a:p>
            <a:pPr marL="228600" indent="-228600">
              <a:lnSpc>
                <a:spcPct val="70000"/>
              </a:lnSpc>
              <a:spcBef>
                <a:spcPts val="0"/>
              </a:spcBef>
              <a:spcAft>
                <a:spcPts val="400"/>
              </a:spcAft>
              <a:buFont typeface="+mj-lt"/>
              <a:buAutoNum type="arabicPeriod" startAt="16"/>
            </a:pPr>
            <a:r>
              <a:rPr lang="en-US" sz="900" dirty="0"/>
              <a:t>Liu D Wang N He D Wu Z Zhu X Wen X Li X Li J Wang Z Wang X, Wang H. Deep learning using bulk </a:t>
            </a:r>
            <a:r>
              <a:rPr lang="en-US" sz="900" dirty="0" err="1"/>
              <a:t>rna</a:t>
            </a:r>
            <a:r>
              <a:rPr lang="en-US" sz="900" dirty="0"/>
              <a:t>-seq data expands cell landscape identification in tumor microenvironment. </a:t>
            </a:r>
            <a:r>
              <a:rPr lang="en-US" sz="900" dirty="0" err="1"/>
              <a:t>Oncoimmunology</a:t>
            </a:r>
            <a:r>
              <a:rPr lang="en-US" sz="900" dirty="0"/>
              <a:t>, 25(11), February 2022. </a:t>
            </a:r>
            <a:r>
              <a:rPr lang="en-US" sz="900" dirty="0" err="1"/>
              <a:t>doi</a:t>
            </a:r>
            <a:r>
              <a:rPr lang="en-US" sz="900" dirty="0"/>
              <a:t>: 10.1080/2162402X.2022.2043662.</a:t>
            </a:r>
          </a:p>
          <a:p>
            <a:pPr marL="228600" indent="-228600">
              <a:lnSpc>
                <a:spcPct val="70000"/>
              </a:lnSpc>
              <a:spcBef>
                <a:spcPts val="0"/>
              </a:spcBef>
              <a:spcAft>
                <a:spcPts val="400"/>
              </a:spcAft>
              <a:buFont typeface="+mj-lt"/>
              <a:buAutoNum type="arabicPeriod" startAt="16"/>
            </a:pPr>
            <a:r>
              <a:rPr lang="en-US" sz="900" dirty="0"/>
              <a:t>F. Pedregosa, G. </a:t>
            </a:r>
            <a:r>
              <a:rPr lang="en-US" sz="900" dirty="0" err="1"/>
              <a:t>Varoquaux</a:t>
            </a:r>
            <a:r>
              <a:rPr lang="en-US" sz="900" dirty="0"/>
              <a:t>, A. </a:t>
            </a:r>
            <a:r>
              <a:rPr lang="en-US" sz="900" dirty="0" err="1"/>
              <a:t>Gramfort</a:t>
            </a:r>
            <a:r>
              <a:rPr lang="en-US" sz="900" dirty="0"/>
              <a:t>, V. Michel, B. Thirion, O. Grisel, M. Blondel, P. </a:t>
            </a:r>
            <a:r>
              <a:rPr lang="en-US" sz="900" dirty="0" err="1"/>
              <a:t>Prettenhofer</a:t>
            </a:r>
            <a:r>
              <a:rPr lang="en-US" sz="900" dirty="0"/>
              <a:t>, R. Weiss, V. Dubourg, J. Vanderplas, A. Passos, D. </a:t>
            </a:r>
            <a:r>
              <a:rPr lang="en-US" sz="900" dirty="0" err="1"/>
              <a:t>Cournapeau</a:t>
            </a:r>
            <a:r>
              <a:rPr lang="en-US" sz="900" dirty="0"/>
              <a:t>, M. Brucher, M. Perrot, and E. Duchesnay. Scikit-learn: Machine learning in Python. Journal of Machine Learning Research, 12:2825–2830, 2011.</a:t>
            </a:r>
          </a:p>
          <a:p>
            <a:pPr marL="228600" indent="-228600">
              <a:lnSpc>
                <a:spcPct val="70000"/>
              </a:lnSpc>
              <a:spcBef>
                <a:spcPts val="0"/>
              </a:spcBef>
              <a:spcAft>
                <a:spcPts val="400"/>
              </a:spcAft>
              <a:buFont typeface="+mj-lt"/>
              <a:buAutoNum type="arabicPeriod" startAt="16"/>
            </a:pPr>
            <a:r>
              <a:rPr lang="en-US" sz="900" dirty="0"/>
              <a:t>Derek A. </a:t>
            </a:r>
            <a:r>
              <a:rPr lang="en-US" sz="900" dirty="0" err="1"/>
              <a:t>Pisner</a:t>
            </a:r>
            <a:r>
              <a:rPr lang="en-US" sz="900" dirty="0"/>
              <a:t> and David M. Schnyer. Chapter 6 - support vector machine. In Andrea </a:t>
            </a:r>
            <a:r>
              <a:rPr lang="en-US" sz="900" dirty="0" err="1"/>
              <a:t>Mechelli</a:t>
            </a:r>
            <a:r>
              <a:rPr lang="en-US" sz="900" dirty="0"/>
              <a:t> and Sandra Vieira, editors, Machine Learning, pages 101–121. Academic Press, 2020. ISBN 978-0-12-815739-8. </a:t>
            </a:r>
            <a:r>
              <a:rPr lang="en-US" sz="900" dirty="0" err="1"/>
              <a:t>doi</a:t>
            </a:r>
            <a:r>
              <a:rPr lang="en-US" sz="900" dirty="0"/>
              <a:t>: https://doi.org/10.1016/B978-0-12-815739-8.00006-7. URL https://www.sciencedirect.com/science/article/pii/B9780128157398000067.</a:t>
            </a:r>
          </a:p>
          <a:p>
            <a:pPr marL="228600" indent="-228600">
              <a:lnSpc>
                <a:spcPct val="70000"/>
              </a:lnSpc>
              <a:spcBef>
                <a:spcPts val="0"/>
              </a:spcBef>
              <a:spcAft>
                <a:spcPts val="400"/>
              </a:spcAft>
              <a:buFont typeface="+mj-lt"/>
              <a:buAutoNum type="arabicPeriod" startAt="16"/>
            </a:pPr>
            <a:r>
              <a:rPr lang="en-US" sz="900" dirty="0" err="1"/>
              <a:t>Musalula</a:t>
            </a:r>
            <a:r>
              <a:rPr lang="en-US" sz="900" dirty="0"/>
              <a:t> Sinkala. Mutational landscape of cancer-driver genes across human cancers. Sci Rep, 13(1), August 2023. </a:t>
            </a:r>
            <a:r>
              <a:rPr lang="en-US" sz="900" dirty="0" err="1"/>
              <a:t>doi</a:t>
            </a:r>
            <a:r>
              <a:rPr lang="en-US" sz="900" dirty="0"/>
              <a:t>: 10.1038/s41598-023-39608-2. URL https://doi.org/10.1038/s41598-023-39608-2.</a:t>
            </a:r>
          </a:p>
          <a:p>
            <a:pPr marL="228600" indent="-228600">
              <a:lnSpc>
                <a:spcPct val="70000"/>
              </a:lnSpc>
              <a:spcBef>
                <a:spcPts val="0"/>
              </a:spcBef>
              <a:spcAft>
                <a:spcPts val="400"/>
              </a:spcAft>
              <a:buFont typeface="+mj-lt"/>
              <a:buAutoNum type="arabicPeriod" startAt="16"/>
            </a:pPr>
            <a:r>
              <a:rPr lang="en-US" sz="900" dirty="0"/>
              <a:t>Ales </a:t>
            </a:r>
            <a:r>
              <a:rPr lang="en-US" sz="900" dirty="0" err="1"/>
              <a:t>Varabyou</a:t>
            </a:r>
            <a:r>
              <a:rPr lang="en-US" sz="900" dirty="0"/>
              <a:t>, Steven L Salzberg, and Mihaela Pertea. Effects of transcriptional noise on estimates of gene and transcript expression in RNA sequencing experiments. Genome Res, 31 (2):301–308, February 2021.</a:t>
            </a:r>
          </a:p>
        </p:txBody>
      </p:sp>
    </p:spTree>
    <p:extLst>
      <p:ext uri="{BB962C8B-B14F-4D97-AF65-F5344CB8AC3E}">
        <p14:creationId xmlns:p14="http://schemas.microsoft.com/office/powerpoint/2010/main" val="2490211720"/>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docProps/app.xml><?xml version="1.0" encoding="utf-8"?>
<Properties xmlns="http://schemas.openxmlformats.org/officeDocument/2006/extended-properties" xmlns:vt="http://schemas.openxmlformats.org/officeDocument/2006/docPropsVTypes">
  <Template>Retrospect</Template>
  <TotalTime>256</TotalTime>
  <Words>3225</Words>
  <Application>Microsoft Office PowerPoint</Application>
  <PresentationFormat>Widescreen</PresentationFormat>
  <Paragraphs>208</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Calibri</vt:lpstr>
      <vt:lpstr>Calibri Light</vt:lpstr>
      <vt:lpstr>Cambria Math</vt:lpstr>
      <vt:lpstr>Simplified Arabic Fixed</vt:lpstr>
      <vt:lpstr>Retrospect</vt:lpstr>
      <vt:lpstr>Survey of Dimensionality Reduction Techniques and their Applications for Classifying Disease State in Human RNA-seq Data</vt:lpstr>
      <vt:lpstr>Introduction</vt:lpstr>
      <vt:lpstr>PowerPoint Presentation</vt:lpstr>
      <vt:lpstr>PowerPoint Presentation</vt:lpstr>
      <vt:lpstr>RNA-seq Data</vt:lpstr>
      <vt:lpstr>Pretrained Models?</vt:lpstr>
      <vt:lpstr>Survey of Dimensionality Reduction</vt:lpstr>
      <vt:lpstr>a priori Aggregation</vt:lpstr>
      <vt:lpstr>PCA, kPCA, and NMF</vt:lpstr>
      <vt:lpstr>PowerPoint Presentation</vt:lpstr>
      <vt:lpstr>Methodological Notes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Conclusions</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Middleton, Nolan David</dc:creator>
  <cp:lastModifiedBy>Middleton, Nolan David</cp:lastModifiedBy>
  <cp:revision>36</cp:revision>
  <dcterms:created xsi:type="dcterms:W3CDTF">2025-12-04T21:19:25Z</dcterms:created>
  <dcterms:modified xsi:type="dcterms:W3CDTF">2025-12-05T01:35:35Z</dcterms:modified>
</cp:coreProperties>
</file>